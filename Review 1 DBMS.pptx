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46304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Calibri"/>
              </a:rPr>
              <a:t>DATABASE MANAGEMENT SYSTEM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74519"/>
            <a:ext cx="9445752" cy="1737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3F444B"/>
                </a:solidFill>
                <a:latin typeface="Cambria"/>
              </a:rPr>
              <a:t>Design and Implementation of a Database Management System for Property Rental and Lease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840480"/>
            <a:ext cx="914400" cy="18288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406908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Calibri"/>
              </a:rPr>
              <a:t>DBMS Project-Based Learning – Review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8348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>
                <a:solidFill>
                  <a:srgbClr val="6B7280"/>
                </a:solidFill>
                <a:latin typeface="Calibri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25780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4A4F56"/>
                </a:solidFill>
                <a:latin typeface="Calibri"/>
              </a:rPr>
              <a:t>Mohammad Zeeshan</a:t>
            </a:r>
            <a:r>
              <a:rPr sz="1400" b="0">
                <a:solidFill>
                  <a:srgbClr val="4A4F56"/>
                </a:solidFill>
                <a:latin typeface="Calibri"/>
              </a:rPr>
              <a:t>   •   Roll No. 25WU0102160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444B"/>
                </a:solidFill>
                <a:latin typeface="Cambria"/>
              </a:rPr>
              <a:t>Problem Statement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257800" cy="384048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" cy="384048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A4F56"/>
                </a:solidFill>
                <a:latin typeface="Calibri"/>
              </a:rPr>
              <a:t>Property rental agencies manage owners, properties, units, tenants, leases, rent, and maintenance manually — causing missed rent collection, overlapping leases, and no visibility into vacant units.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29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6B7280"/>
                </a:solidFill>
                <a:latin typeface="Calibri"/>
              </a:rPr>
              <a:t>Resulting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Late or untracked rent payments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Double-booked units and invalid lease dates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Scattered tenant and maintenance records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80868E"/>
                </a:solidFill>
                <a:latin typeface="Calibri"/>
              </a:rPr>
              <a:t>■  </a:t>
            </a:r>
            <a:r>
              <a:rPr sz="1300" b="0">
                <a:solidFill>
                  <a:srgbClr val="4A4F56"/>
                </a:solidFill>
                <a:latin typeface="Calibri"/>
              </a:rPr>
              <a:t>No quick reports for owners or managers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88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F444B"/>
                </a:solidFill>
                <a:latin typeface="Cambria"/>
              </a:rPr>
              <a:t>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600200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728216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Normalized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Design a normalized database for rental operations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78608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578608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7066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Lease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3580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Prevent overlapping or invalid leases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57016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557016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6850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Financial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14216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Track rent, payments, deposits, and maintenance accurately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35424"/>
            <a:ext cx="5513832" cy="85039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4535424"/>
            <a:ext cx="54864" cy="850392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6634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Operational 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92624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Calibri"/>
              </a:rPr>
              <a:t>Enable quick reports on vacancies, dues, expiries, and income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A centralized relational database replaces manual record keeping with consistent, queryable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Scope &amp;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6517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26517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System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Manages properties and rental units, including leasing, tenant records, rent billing, and payments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Handles inspections, maintenance requests, lease renewals, terminations, and rental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188720"/>
            <a:ext cx="5486400" cy="265176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45352" y="1188720"/>
            <a:ext cx="54864" cy="265176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35331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User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83080"/>
            <a:ext cx="5074920" cy="1920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Property Manager — manages listings, leases, and billing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Owner — views property status and income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Tenant — views lease, dues, and raises maintenance 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3685032" cy="12344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4864" cy="12344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3F444B"/>
                </a:solidFill>
                <a:latin typeface="Cambria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Database tables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4114800"/>
            <a:ext cx="3685032" cy="12344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4114800"/>
            <a:ext cx="54864" cy="12344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3F444B"/>
                </a:solidFill>
                <a:latin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846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User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114800"/>
            <a:ext cx="3685032" cy="12344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46720" y="4114800"/>
            <a:ext cx="54864" cy="12344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20624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>
                <a:solidFill>
                  <a:srgbClr val="3F444B"/>
                </a:solidFill>
                <a:latin typeface="Cambr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Views &amp; reports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Scope covers the complete rental lifecycle: listing, leasing, billing, upkeep, renewal, and termination.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Functional Requirements &amp; Entities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>
                <a:solidFill>
                  <a:srgbClr val="4A4F56"/>
                </a:solidFill>
                <a:latin typeface="Calibri"/>
              </a:rPr>
              <a:t>The system allows the agency to register owners, properties, units, and tenants; create leases; generate rent schedules and payments; log inspections and maintenance; process renewals and terminations; and generate reports.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Core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24028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Owner, Property, Unit, Tenant, Lease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36392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136392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136392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Financial Entities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136392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Rent Schedule, Deposit, Payment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32504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032504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4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Operational Entities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032504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Inspection, Maintenance Request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928616"/>
            <a:ext cx="11274552" cy="73152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928616"/>
            <a:ext cx="54864" cy="73152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928616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3F444B"/>
                </a:solidFill>
                <a:latin typeface="Calibri"/>
              </a:rPr>
              <a:t>Lifecycle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928616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>
                <a:solidFill>
                  <a:srgbClr val="4A4F56"/>
                </a:solidFill>
                <a:latin typeface="Calibri"/>
              </a:rPr>
              <a:t>Renewal, Termination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85216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Twelve entities together cover ownership, leasing, finance, operations, and lease lifecycle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Entity-Relationship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cxnSp>
        <p:nvCxnSpPr>
          <p:cNvPr id="2077" name="Connector"/>
          <p:cNvCxnSpPr/>
          <p:nvPr/>
        </p:nvCxnSpPr>
        <p:spPr>
          <a:xfrm>
            <a:off x="219456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78" name="Connector"/>
          <p:cNvCxnSpPr/>
          <p:nvPr/>
        </p:nvCxnSpPr>
        <p:spPr>
          <a:xfrm>
            <a:off x="274320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2" name="Connector"/>
          <p:cNvCxnSpPr/>
          <p:nvPr/>
        </p:nvCxnSpPr>
        <p:spPr>
          <a:xfrm>
            <a:off x="425196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3" name="Connector"/>
          <p:cNvCxnSpPr/>
          <p:nvPr/>
        </p:nvCxnSpPr>
        <p:spPr>
          <a:xfrm>
            <a:off x="4800600" y="1691640"/>
            <a:ext cx="914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7" name="Connector"/>
          <p:cNvCxnSpPr/>
          <p:nvPr/>
        </p:nvCxnSpPr>
        <p:spPr>
          <a:xfrm>
            <a:off x="6309360" y="169164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88" name="Connector"/>
          <p:cNvCxnSpPr/>
          <p:nvPr/>
        </p:nvCxnSpPr>
        <p:spPr>
          <a:xfrm>
            <a:off x="7360920" y="169164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2" name="Connector"/>
          <p:cNvCxnSpPr/>
          <p:nvPr/>
        </p:nvCxnSpPr>
        <p:spPr>
          <a:xfrm>
            <a:off x="6309360" y="3703320"/>
            <a:ext cx="27432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3" name="Connector"/>
          <p:cNvCxnSpPr/>
          <p:nvPr/>
        </p:nvCxnSpPr>
        <p:spPr>
          <a:xfrm>
            <a:off x="7223760" y="3703320"/>
            <a:ext cx="27432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7" name="Connector"/>
          <p:cNvCxnSpPr/>
          <p:nvPr/>
        </p:nvCxnSpPr>
        <p:spPr>
          <a:xfrm>
            <a:off x="2194560" y="566928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098" name="Connector"/>
          <p:cNvCxnSpPr/>
          <p:nvPr/>
        </p:nvCxnSpPr>
        <p:spPr>
          <a:xfrm>
            <a:off x="2834640" y="5669280"/>
            <a:ext cx="1371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2" name="Connector"/>
          <p:cNvCxnSpPr/>
          <p:nvPr/>
        </p:nvCxnSpPr>
        <p:spPr>
          <a:xfrm>
            <a:off x="8206740" y="2313432"/>
            <a:ext cx="0" cy="19202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3" name="Connector"/>
          <p:cNvCxnSpPr/>
          <p:nvPr/>
        </p:nvCxnSpPr>
        <p:spPr>
          <a:xfrm>
            <a:off x="8206740" y="292608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7" name="Connector"/>
          <p:cNvCxnSpPr/>
          <p:nvPr/>
        </p:nvCxnSpPr>
        <p:spPr>
          <a:xfrm>
            <a:off x="4480560" y="2258568"/>
            <a:ext cx="41148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8" name="Connector"/>
          <p:cNvCxnSpPr/>
          <p:nvPr/>
        </p:nvCxnSpPr>
        <p:spPr>
          <a:xfrm>
            <a:off x="4480560" y="2258568"/>
            <a:ext cx="0" cy="201168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09" name="Connector"/>
          <p:cNvCxnSpPr/>
          <p:nvPr/>
        </p:nvCxnSpPr>
        <p:spPr>
          <a:xfrm>
            <a:off x="1485900" y="2670048"/>
            <a:ext cx="253746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0" name="Connector"/>
          <p:cNvCxnSpPr/>
          <p:nvPr/>
        </p:nvCxnSpPr>
        <p:spPr>
          <a:xfrm>
            <a:off x="1485900" y="2670048"/>
            <a:ext cx="0" cy="438912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4" name="Connector"/>
          <p:cNvCxnSpPr/>
          <p:nvPr/>
        </p:nvCxnSpPr>
        <p:spPr>
          <a:xfrm>
            <a:off x="5600700" y="2313432"/>
            <a:ext cx="0" cy="173736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5" name="Connector"/>
          <p:cNvCxnSpPr/>
          <p:nvPr/>
        </p:nvCxnSpPr>
        <p:spPr>
          <a:xfrm>
            <a:off x="5600700" y="2907792"/>
            <a:ext cx="0" cy="201168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19" name="Connector"/>
          <p:cNvCxnSpPr/>
          <p:nvPr/>
        </p:nvCxnSpPr>
        <p:spPr>
          <a:xfrm>
            <a:off x="148590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1" name="Connector"/>
          <p:cNvCxnSpPr/>
          <p:nvPr/>
        </p:nvCxnSpPr>
        <p:spPr>
          <a:xfrm>
            <a:off x="368046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3" name="Connector"/>
          <p:cNvCxnSpPr/>
          <p:nvPr/>
        </p:nvCxnSpPr>
        <p:spPr>
          <a:xfrm>
            <a:off x="560070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5" name="Connector"/>
          <p:cNvCxnSpPr/>
          <p:nvPr/>
        </p:nvCxnSpPr>
        <p:spPr>
          <a:xfrm>
            <a:off x="756666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7" name="Connector"/>
          <p:cNvCxnSpPr/>
          <p:nvPr/>
        </p:nvCxnSpPr>
        <p:spPr>
          <a:xfrm>
            <a:off x="9715500" y="4892040"/>
            <a:ext cx="0" cy="18288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8" name="Connector"/>
          <p:cNvCxnSpPr/>
          <p:nvPr/>
        </p:nvCxnSpPr>
        <p:spPr>
          <a:xfrm>
            <a:off x="4978908" y="4325112"/>
            <a:ext cx="0" cy="73152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29" name="Connector"/>
          <p:cNvCxnSpPr/>
          <p:nvPr/>
        </p:nvCxnSpPr>
        <p:spPr>
          <a:xfrm>
            <a:off x="1485900" y="4398264"/>
            <a:ext cx="3493008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0" name="Connector"/>
          <p:cNvCxnSpPr/>
          <p:nvPr/>
        </p:nvCxnSpPr>
        <p:spPr>
          <a:xfrm>
            <a:off x="1485900" y="4398264"/>
            <a:ext cx="0" cy="128016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1" name="Connector"/>
          <p:cNvCxnSpPr/>
          <p:nvPr/>
        </p:nvCxnSpPr>
        <p:spPr>
          <a:xfrm>
            <a:off x="5212080" y="4325112"/>
            <a:ext cx="0" cy="14630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2" name="Connector"/>
          <p:cNvCxnSpPr/>
          <p:nvPr/>
        </p:nvCxnSpPr>
        <p:spPr>
          <a:xfrm>
            <a:off x="3680460" y="4471416"/>
            <a:ext cx="153162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3" name="Connector"/>
          <p:cNvCxnSpPr/>
          <p:nvPr/>
        </p:nvCxnSpPr>
        <p:spPr>
          <a:xfrm>
            <a:off x="3680460" y="4471416"/>
            <a:ext cx="0" cy="5486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4" name="Connector"/>
          <p:cNvCxnSpPr/>
          <p:nvPr/>
        </p:nvCxnSpPr>
        <p:spPr>
          <a:xfrm>
            <a:off x="5600700" y="4325112"/>
            <a:ext cx="0" cy="201168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5" name="Connector"/>
          <p:cNvCxnSpPr/>
          <p:nvPr/>
        </p:nvCxnSpPr>
        <p:spPr>
          <a:xfrm>
            <a:off x="5989320" y="4325112"/>
            <a:ext cx="0" cy="14630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6" name="Connector"/>
          <p:cNvCxnSpPr/>
          <p:nvPr/>
        </p:nvCxnSpPr>
        <p:spPr>
          <a:xfrm>
            <a:off x="5989320" y="4471416"/>
            <a:ext cx="1577340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7" name="Connector"/>
          <p:cNvCxnSpPr/>
          <p:nvPr/>
        </p:nvCxnSpPr>
        <p:spPr>
          <a:xfrm>
            <a:off x="7566660" y="4471416"/>
            <a:ext cx="0" cy="54864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8" name="Connector"/>
          <p:cNvCxnSpPr/>
          <p:nvPr/>
        </p:nvCxnSpPr>
        <p:spPr>
          <a:xfrm>
            <a:off x="6222492" y="4325112"/>
            <a:ext cx="0" cy="73152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39" name="Connector"/>
          <p:cNvCxnSpPr/>
          <p:nvPr/>
        </p:nvCxnSpPr>
        <p:spPr>
          <a:xfrm>
            <a:off x="6222492" y="4398264"/>
            <a:ext cx="3493008" cy="0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cxnSp>
        <p:nvCxnSpPr>
          <p:cNvPr id="2140" name="Connector"/>
          <p:cNvCxnSpPr/>
          <p:nvPr/>
        </p:nvCxnSpPr>
        <p:spPr>
          <a:xfrm>
            <a:off x="9715500" y="4398264"/>
            <a:ext cx="0" cy="128016"/>
          </a:xfrm>
          <a:prstGeom prst="line">
            <a:avLst/>
          </a:prstGeom>
          <a:ln w="12700">
            <a:solidFill>
              <a:srgbClr val="3F444B"/>
            </a:solidFill>
          </a:ln>
        </p:spPr>
      </p:cxnSp>
      <p:sp>
        <p:nvSpPr>
          <p:cNvPr id="2001" name="OWNER box"/>
          <p:cNvSpPr/>
          <p:nvPr/>
        </p:nvSpPr>
        <p:spPr>
          <a:xfrm>
            <a:off x="777240" y="109728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2" name="OWNER header"/>
          <p:cNvSpPr/>
          <p:nvPr/>
        </p:nvSpPr>
        <p:spPr>
          <a:xfrm>
            <a:off x="77724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OWNER</a:t>
            </a:r>
          </a:p>
        </p:txBody>
      </p:sp>
      <p:sp>
        <p:nvSpPr>
          <p:cNvPr id="2007" name="PROPERTY box"/>
          <p:cNvSpPr/>
          <p:nvPr/>
        </p:nvSpPr>
        <p:spPr>
          <a:xfrm>
            <a:off x="2834640" y="109728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08" name="PROPERTY header"/>
          <p:cNvSpPr/>
          <p:nvPr/>
        </p:nvSpPr>
        <p:spPr>
          <a:xfrm>
            <a:off x="283464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PROPERTY</a:t>
            </a:r>
          </a:p>
        </p:txBody>
      </p:sp>
      <p:sp>
        <p:nvSpPr>
          <p:cNvPr id="2013" name="UNIT box"/>
          <p:cNvSpPr/>
          <p:nvPr/>
        </p:nvSpPr>
        <p:spPr>
          <a:xfrm>
            <a:off x="4892040" y="109728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4" name="UNIT header"/>
          <p:cNvSpPr/>
          <p:nvPr/>
        </p:nvSpPr>
        <p:spPr>
          <a:xfrm>
            <a:off x="489204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UNIT</a:t>
            </a:r>
          </a:p>
        </p:txBody>
      </p:sp>
      <p:sp>
        <p:nvSpPr>
          <p:cNvPr id="2020" name="MAINTENANCE REQUEST box"/>
          <p:cNvSpPr/>
          <p:nvPr/>
        </p:nvSpPr>
        <p:spPr>
          <a:xfrm>
            <a:off x="7498080" y="109728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1" name="MAINTENANCE REQUEST header"/>
          <p:cNvSpPr/>
          <p:nvPr/>
        </p:nvSpPr>
        <p:spPr>
          <a:xfrm>
            <a:off x="7498080" y="109728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50" b="1" dirty="0">
                <a:solidFill>
                  <a:srgbClr val="2A2A28"/>
                </a:solidFill>
                <a:latin typeface="Calibri"/>
              </a:rPr>
              <a:t>MAINTENANCE REQUEST</a:t>
            </a:r>
          </a:p>
        </p:txBody>
      </p:sp>
      <p:sp>
        <p:nvSpPr>
          <p:cNvPr id="2027" name="INSPECTION box"/>
          <p:cNvSpPr/>
          <p:nvPr/>
        </p:nvSpPr>
        <p:spPr>
          <a:xfrm>
            <a:off x="777240" y="310896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28" name="INSPECTION header"/>
          <p:cNvSpPr/>
          <p:nvPr/>
        </p:nvSpPr>
        <p:spPr>
          <a:xfrm>
            <a:off x="777240" y="310896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INSPECTION</a:t>
            </a:r>
          </a:p>
        </p:txBody>
      </p:sp>
      <p:sp>
        <p:nvSpPr>
          <p:cNvPr id="2033" name="LEASE box"/>
          <p:cNvSpPr/>
          <p:nvPr/>
        </p:nvSpPr>
        <p:spPr>
          <a:xfrm>
            <a:off x="4892040" y="310896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4" name="LEASE header"/>
          <p:cNvSpPr/>
          <p:nvPr/>
        </p:nvSpPr>
        <p:spPr>
          <a:xfrm>
            <a:off x="4892040" y="310896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LEASE</a:t>
            </a:r>
          </a:p>
        </p:txBody>
      </p:sp>
      <p:sp>
        <p:nvSpPr>
          <p:cNvPr id="2040" name="TENANT box"/>
          <p:cNvSpPr/>
          <p:nvPr/>
        </p:nvSpPr>
        <p:spPr>
          <a:xfrm>
            <a:off x="7498080" y="310896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1" name="TENANT header"/>
          <p:cNvSpPr/>
          <p:nvPr/>
        </p:nvSpPr>
        <p:spPr>
          <a:xfrm>
            <a:off x="7498080" y="310896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TENANT</a:t>
            </a:r>
          </a:p>
        </p:txBody>
      </p:sp>
      <p:sp>
        <p:nvSpPr>
          <p:cNvPr id="2046" name="RENT SCHEDULE box"/>
          <p:cNvSpPr/>
          <p:nvPr/>
        </p:nvSpPr>
        <p:spPr>
          <a:xfrm>
            <a:off x="777240" y="507492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47" name="RENT SCHEDULE header"/>
          <p:cNvSpPr/>
          <p:nvPr/>
        </p:nvSpPr>
        <p:spPr>
          <a:xfrm>
            <a:off x="77724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RENT SCHEDULE</a:t>
            </a:r>
          </a:p>
        </p:txBody>
      </p:sp>
      <p:sp>
        <p:nvSpPr>
          <p:cNvPr id="2052" name="PAYMENT box"/>
          <p:cNvSpPr/>
          <p:nvPr/>
        </p:nvSpPr>
        <p:spPr>
          <a:xfrm>
            <a:off x="2971800" y="507492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3" name="PAYMENT header"/>
          <p:cNvSpPr/>
          <p:nvPr/>
        </p:nvSpPr>
        <p:spPr>
          <a:xfrm>
            <a:off x="297180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PAYMENT</a:t>
            </a:r>
          </a:p>
        </p:txBody>
      </p:sp>
      <p:sp>
        <p:nvSpPr>
          <p:cNvPr id="2058" name="DEPOSIT box"/>
          <p:cNvSpPr/>
          <p:nvPr/>
        </p:nvSpPr>
        <p:spPr>
          <a:xfrm>
            <a:off x="4892040" y="5074920"/>
            <a:ext cx="1417320" cy="103327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59" name="DEPOSIT header"/>
          <p:cNvSpPr/>
          <p:nvPr/>
        </p:nvSpPr>
        <p:spPr>
          <a:xfrm>
            <a:off x="489204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DEPOSIT</a:t>
            </a:r>
          </a:p>
        </p:txBody>
      </p:sp>
      <p:sp>
        <p:nvSpPr>
          <p:cNvPr id="2064" name="RENEWAL box"/>
          <p:cNvSpPr/>
          <p:nvPr/>
        </p:nvSpPr>
        <p:spPr>
          <a:xfrm>
            <a:off x="6858000" y="5074920"/>
            <a:ext cx="1417320" cy="121615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5" name="RENEWAL header"/>
          <p:cNvSpPr/>
          <p:nvPr/>
        </p:nvSpPr>
        <p:spPr>
          <a:xfrm>
            <a:off x="685800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RENEWAL</a:t>
            </a:r>
          </a:p>
        </p:txBody>
      </p:sp>
      <p:sp>
        <p:nvSpPr>
          <p:cNvPr id="2071" name="TERMINATION box"/>
          <p:cNvSpPr/>
          <p:nvPr/>
        </p:nvSpPr>
        <p:spPr>
          <a:xfrm>
            <a:off x="9006840" y="5074920"/>
            <a:ext cx="141732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72" name="TERMINATION header"/>
          <p:cNvSpPr/>
          <p:nvPr/>
        </p:nvSpPr>
        <p:spPr>
          <a:xfrm>
            <a:off x="9006840" y="5074920"/>
            <a:ext cx="1417320" cy="228600"/>
          </a:xfrm>
          <a:prstGeom prst="rect">
            <a:avLst/>
          </a:prstGeom>
          <a:solidFill>
            <a:srgbClr val="E6E7E9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TERMINATION</a:t>
            </a:r>
          </a:p>
        </p:txBody>
      </p:sp>
      <p:sp>
        <p:nvSpPr>
          <p:cNvPr id="2003" name="OWNER attr OwnerID"/>
          <p:cNvSpPr/>
          <p:nvPr/>
        </p:nvSpPr>
        <p:spPr>
          <a:xfrm>
            <a:off x="88696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OwnerID</a:t>
            </a:r>
          </a:p>
        </p:txBody>
      </p:sp>
      <p:sp>
        <p:nvSpPr>
          <p:cNvPr id="2004" name="OWNER attr OwnerName"/>
          <p:cNvSpPr/>
          <p:nvPr/>
        </p:nvSpPr>
        <p:spPr>
          <a:xfrm>
            <a:off x="88696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OwnerName</a:t>
            </a:r>
          </a:p>
        </p:txBody>
      </p:sp>
      <p:sp>
        <p:nvSpPr>
          <p:cNvPr id="2005" name="OWNER attr Phone"/>
          <p:cNvSpPr/>
          <p:nvPr/>
        </p:nvSpPr>
        <p:spPr>
          <a:xfrm>
            <a:off x="88696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Phone</a:t>
            </a:r>
          </a:p>
        </p:txBody>
      </p:sp>
      <p:sp>
        <p:nvSpPr>
          <p:cNvPr id="2006" name="OWNER attr Email"/>
          <p:cNvSpPr/>
          <p:nvPr/>
        </p:nvSpPr>
        <p:spPr>
          <a:xfrm>
            <a:off x="88696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Email</a:t>
            </a:r>
          </a:p>
        </p:txBody>
      </p:sp>
      <p:sp>
        <p:nvSpPr>
          <p:cNvPr id="2009" name="PROPERTY attr PropertyID"/>
          <p:cNvSpPr/>
          <p:nvPr/>
        </p:nvSpPr>
        <p:spPr>
          <a:xfrm>
            <a:off x="294436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PropertyID</a:t>
            </a:r>
          </a:p>
        </p:txBody>
      </p:sp>
      <p:sp>
        <p:nvSpPr>
          <p:cNvPr id="2010" name="PROPERTY attr PropertyName"/>
          <p:cNvSpPr/>
          <p:nvPr/>
        </p:nvSpPr>
        <p:spPr>
          <a:xfrm>
            <a:off x="294436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PropertyName</a:t>
            </a:r>
          </a:p>
        </p:txBody>
      </p:sp>
      <p:sp>
        <p:nvSpPr>
          <p:cNvPr id="2011" name="PROPERTY attr Address"/>
          <p:cNvSpPr/>
          <p:nvPr/>
        </p:nvSpPr>
        <p:spPr>
          <a:xfrm>
            <a:off x="294436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Address</a:t>
            </a:r>
          </a:p>
        </p:txBody>
      </p:sp>
      <p:sp>
        <p:nvSpPr>
          <p:cNvPr id="2012" name="PROPERTY attr Type"/>
          <p:cNvSpPr/>
          <p:nvPr/>
        </p:nvSpPr>
        <p:spPr>
          <a:xfrm>
            <a:off x="294436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Type</a:t>
            </a:r>
          </a:p>
        </p:txBody>
      </p:sp>
      <p:sp>
        <p:nvSpPr>
          <p:cNvPr id="2015" name="UNIT attr UnitID"/>
          <p:cNvSpPr/>
          <p:nvPr/>
        </p:nvSpPr>
        <p:spPr>
          <a:xfrm>
            <a:off x="500176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UnitID</a:t>
            </a:r>
          </a:p>
        </p:txBody>
      </p:sp>
      <p:sp>
        <p:nvSpPr>
          <p:cNvPr id="2016" name="UNIT attr UnitNumber"/>
          <p:cNvSpPr/>
          <p:nvPr/>
        </p:nvSpPr>
        <p:spPr>
          <a:xfrm>
            <a:off x="500176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UnitNumber</a:t>
            </a:r>
          </a:p>
        </p:txBody>
      </p:sp>
      <p:sp>
        <p:nvSpPr>
          <p:cNvPr id="2017" name="UNIT attr UnitType"/>
          <p:cNvSpPr/>
          <p:nvPr/>
        </p:nvSpPr>
        <p:spPr>
          <a:xfrm>
            <a:off x="500176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UnitType</a:t>
            </a:r>
          </a:p>
        </p:txBody>
      </p:sp>
      <p:sp>
        <p:nvSpPr>
          <p:cNvPr id="2018" name="UNIT attr RentAmount"/>
          <p:cNvSpPr/>
          <p:nvPr/>
        </p:nvSpPr>
        <p:spPr>
          <a:xfrm>
            <a:off x="500176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RentAmount</a:t>
            </a:r>
          </a:p>
        </p:txBody>
      </p:sp>
      <p:sp>
        <p:nvSpPr>
          <p:cNvPr id="2019" name="UNIT attr Status"/>
          <p:cNvSpPr/>
          <p:nvPr/>
        </p:nvSpPr>
        <p:spPr>
          <a:xfrm>
            <a:off x="5001768" y="2107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22" name="MAINTENANCE REQUEST attr RequestID"/>
          <p:cNvSpPr/>
          <p:nvPr/>
        </p:nvSpPr>
        <p:spPr>
          <a:xfrm>
            <a:off x="7607808" y="13761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RequestID</a:t>
            </a:r>
          </a:p>
        </p:txBody>
      </p:sp>
      <p:sp>
        <p:nvSpPr>
          <p:cNvPr id="2023" name="MAINTENANCE REQUEST attr RequestDate"/>
          <p:cNvSpPr/>
          <p:nvPr/>
        </p:nvSpPr>
        <p:spPr>
          <a:xfrm>
            <a:off x="7607808" y="15590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RequestDate</a:t>
            </a:r>
          </a:p>
        </p:txBody>
      </p:sp>
      <p:sp>
        <p:nvSpPr>
          <p:cNvPr id="2024" name="MAINTENANCE REQUEST attr Description"/>
          <p:cNvSpPr/>
          <p:nvPr/>
        </p:nvSpPr>
        <p:spPr>
          <a:xfrm>
            <a:off x="7607808" y="17419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Description</a:t>
            </a:r>
          </a:p>
        </p:txBody>
      </p:sp>
      <p:sp>
        <p:nvSpPr>
          <p:cNvPr id="2025" name="MAINTENANCE REQUEST attr Status"/>
          <p:cNvSpPr/>
          <p:nvPr/>
        </p:nvSpPr>
        <p:spPr>
          <a:xfrm>
            <a:off x="7607808" y="1924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26" name="MAINTENANCE REQUEST attr AssignedTo"/>
          <p:cNvSpPr/>
          <p:nvPr/>
        </p:nvSpPr>
        <p:spPr>
          <a:xfrm>
            <a:off x="7607808" y="2107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AssignedTo</a:t>
            </a:r>
          </a:p>
        </p:txBody>
      </p:sp>
      <p:sp>
        <p:nvSpPr>
          <p:cNvPr id="2029" name="INSPECTION attr InspectionID"/>
          <p:cNvSpPr/>
          <p:nvPr/>
        </p:nvSpPr>
        <p:spPr>
          <a:xfrm>
            <a:off x="886968" y="33878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InspectionID</a:t>
            </a:r>
          </a:p>
        </p:txBody>
      </p:sp>
      <p:sp>
        <p:nvSpPr>
          <p:cNvPr id="2030" name="INSPECTION attr InspectionDate"/>
          <p:cNvSpPr/>
          <p:nvPr/>
        </p:nvSpPr>
        <p:spPr>
          <a:xfrm>
            <a:off x="886968" y="35707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InspectionDate</a:t>
            </a:r>
          </a:p>
        </p:txBody>
      </p:sp>
      <p:sp>
        <p:nvSpPr>
          <p:cNvPr id="2031" name="INSPECTION attr Condition"/>
          <p:cNvSpPr/>
          <p:nvPr/>
        </p:nvSpPr>
        <p:spPr>
          <a:xfrm>
            <a:off x="886968" y="37536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Condition</a:t>
            </a:r>
          </a:p>
        </p:txBody>
      </p:sp>
      <p:sp>
        <p:nvSpPr>
          <p:cNvPr id="2032" name="INSPECTION attr Remarks"/>
          <p:cNvSpPr/>
          <p:nvPr/>
        </p:nvSpPr>
        <p:spPr>
          <a:xfrm>
            <a:off x="886968" y="39364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Remarks</a:t>
            </a:r>
          </a:p>
        </p:txBody>
      </p:sp>
      <p:sp>
        <p:nvSpPr>
          <p:cNvPr id="2035" name="LEASE attr LeaseID"/>
          <p:cNvSpPr/>
          <p:nvPr/>
        </p:nvSpPr>
        <p:spPr>
          <a:xfrm>
            <a:off x="5001768" y="33878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LeaseID</a:t>
            </a:r>
          </a:p>
        </p:txBody>
      </p:sp>
      <p:sp>
        <p:nvSpPr>
          <p:cNvPr id="2036" name="LEASE attr StartDate"/>
          <p:cNvSpPr/>
          <p:nvPr/>
        </p:nvSpPr>
        <p:spPr>
          <a:xfrm>
            <a:off x="5001768" y="35707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StartDate</a:t>
            </a:r>
          </a:p>
        </p:txBody>
      </p:sp>
      <p:sp>
        <p:nvSpPr>
          <p:cNvPr id="2037" name="LEASE attr EndDate"/>
          <p:cNvSpPr/>
          <p:nvPr/>
        </p:nvSpPr>
        <p:spPr>
          <a:xfrm>
            <a:off x="5001768" y="37536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EndDate</a:t>
            </a:r>
          </a:p>
        </p:txBody>
      </p:sp>
      <p:sp>
        <p:nvSpPr>
          <p:cNvPr id="2038" name="LEASE attr MonthlyRent"/>
          <p:cNvSpPr/>
          <p:nvPr/>
        </p:nvSpPr>
        <p:spPr>
          <a:xfrm>
            <a:off x="5001768" y="39364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MonthlyRent</a:t>
            </a:r>
          </a:p>
        </p:txBody>
      </p:sp>
      <p:sp>
        <p:nvSpPr>
          <p:cNvPr id="2039" name="LEASE attr Status"/>
          <p:cNvSpPr/>
          <p:nvPr/>
        </p:nvSpPr>
        <p:spPr>
          <a:xfrm>
            <a:off x="5001768" y="41193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42" name="TENANT attr TenantID"/>
          <p:cNvSpPr/>
          <p:nvPr/>
        </p:nvSpPr>
        <p:spPr>
          <a:xfrm>
            <a:off x="7607808" y="33878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TenantID</a:t>
            </a:r>
          </a:p>
        </p:txBody>
      </p:sp>
      <p:sp>
        <p:nvSpPr>
          <p:cNvPr id="2043" name="TENANT attr TenantName"/>
          <p:cNvSpPr/>
          <p:nvPr/>
        </p:nvSpPr>
        <p:spPr>
          <a:xfrm>
            <a:off x="7607808" y="35707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TenantName</a:t>
            </a:r>
          </a:p>
        </p:txBody>
      </p:sp>
      <p:sp>
        <p:nvSpPr>
          <p:cNvPr id="2044" name="TENANT attr Phone"/>
          <p:cNvSpPr/>
          <p:nvPr/>
        </p:nvSpPr>
        <p:spPr>
          <a:xfrm>
            <a:off x="7607808" y="37536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Phone</a:t>
            </a:r>
          </a:p>
        </p:txBody>
      </p:sp>
      <p:sp>
        <p:nvSpPr>
          <p:cNvPr id="2045" name="TENANT attr Email"/>
          <p:cNvSpPr/>
          <p:nvPr/>
        </p:nvSpPr>
        <p:spPr>
          <a:xfrm>
            <a:off x="7607808" y="39364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Email</a:t>
            </a:r>
          </a:p>
        </p:txBody>
      </p:sp>
      <p:sp>
        <p:nvSpPr>
          <p:cNvPr id="2048" name="RENT SCHEDULE attr ScheduleID"/>
          <p:cNvSpPr/>
          <p:nvPr/>
        </p:nvSpPr>
        <p:spPr>
          <a:xfrm>
            <a:off x="88696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ScheduleID</a:t>
            </a:r>
          </a:p>
        </p:txBody>
      </p:sp>
      <p:sp>
        <p:nvSpPr>
          <p:cNvPr id="2049" name="RENT SCHEDULE attr DueDate"/>
          <p:cNvSpPr/>
          <p:nvPr/>
        </p:nvSpPr>
        <p:spPr>
          <a:xfrm>
            <a:off x="88696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DueDate</a:t>
            </a:r>
          </a:p>
        </p:txBody>
      </p:sp>
      <p:sp>
        <p:nvSpPr>
          <p:cNvPr id="2050" name="RENT SCHEDULE attr Amount"/>
          <p:cNvSpPr/>
          <p:nvPr/>
        </p:nvSpPr>
        <p:spPr>
          <a:xfrm>
            <a:off x="88696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Amount</a:t>
            </a:r>
          </a:p>
        </p:txBody>
      </p:sp>
      <p:sp>
        <p:nvSpPr>
          <p:cNvPr id="2051" name="RENT SCHEDULE attr Status"/>
          <p:cNvSpPr/>
          <p:nvPr/>
        </p:nvSpPr>
        <p:spPr>
          <a:xfrm>
            <a:off x="88696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54" name="PAYMENT attr PaymentID"/>
          <p:cNvSpPr/>
          <p:nvPr/>
        </p:nvSpPr>
        <p:spPr>
          <a:xfrm>
            <a:off x="308152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PaymentID</a:t>
            </a:r>
          </a:p>
        </p:txBody>
      </p:sp>
      <p:sp>
        <p:nvSpPr>
          <p:cNvPr id="2055" name="PAYMENT attr PaymentDate"/>
          <p:cNvSpPr/>
          <p:nvPr/>
        </p:nvSpPr>
        <p:spPr>
          <a:xfrm>
            <a:off x="308152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PaymentDate</a:t>
            </a:r>
          </a:p>
        </p:txBody>
      </p:sp>
      <p:sp>
        <p:nvSpPr>
          <p:cNvPr id="2056" name="PAYMENT attr AmountPaid"/>
          <p:cNvSpPr/>
          <p:nvPr/>
        </p:nvSpPr>
        <p:spPr>
          <a:xfrm>
            <a:off x="308152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AmountPaid</a:t>
            </a:r>
          </a:p>
        </p:txBody>
      </p:sp>
      <p:sp>
        <p:nvSpPr>
          <p:cNvPr id="2057" name="PAYMENT attr PaymentMode"/>
          <p:cNvSpPr/>
          <p:nvPr/>
        </p:nvSpPr>
        <p:spPr>
          <a:xfrm>
            <a:off x="308152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PaymentMode</a:t>
            </a:r>
          </a:p>
        </p:txBody>
      </p:sp>
      <p:sp>
        <p:nvSpPr>
          <p:cNvPr id="2060" name="DEPOSIT attr DepositID"/>
          <p:cNvSpPr/>
          <p:nvPr/>
        </p:nvSpPr>
        <p:spPr>
          <a:xfrm>
            <a:off x="500176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DepositID</a:t>
            </a:r>
          </a:p>
        </p:txBody>
      </p:sp>
      <p:sp>
        <p:nvSpPr>
          <p:cNvPr id="2061" name="DEPOSIT attr Amount"/>
          <p:cNvSpPr/>
          <p:nvPr/>
        </p:nvSpPr>
        <p:spPr>
          <a:xfrm>
            <a:off x="500176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Amount</a:t>
            </a:r>
          </a:p>
        </p:txBody>
      </p:sp>
      <p:sp>
        <p:nvSpPr>
          <p:cNvPr id="2062" name="DEPOSIT attr PaidDate"/>
          <p:cNvSpPr/>
          <p:nvPr/>
        </p:nvSpPr>
        <p:spPr>
          <a:xfrm>
            <a:off x="500176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PaidDate</a:t>
            </a:r>
          </a:p>
        </p:txBody>
      </p:sp>
      <p:sp>
        <p:nvSpPr>
          <p:cNvPr id="2063" name="DEPOSIT attr Status"/>
          <p:cNvSpPr/>
          <p:nvPr/>
        </p:nvSpPr>
        <p:spPr>
          <a:xfrm>
            <a:off x="500176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Status</a:t>
            </a:r>
          </a:p>
        </p:txBody>
      </p:sp>
      <p:sp>
        <p:nvSpPr>
          <p:cNvPr id="2066" name="RENEWAL attr RenewalID"/>
          <p:cNvSpPr/>
          <p:nvPr/>
        </p:nvSpPr>
        <p:spPr>
          <a:xfrm>
            <a:off x="696772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RenewalID</a:t>
            </a:r>
          </a:p>
        </p:txBody>
      </p:sp>
      <p:sp>
        <p:nvSpPr>
          <p:cNvPr id="2067" name="RENEWAL attr NewStartDate"/>
          <p:cNvSpPr/>
          <p:nvPr/>
        </p:nvSpPr>
        <p:spPr>
          <a:xfrm>
            <a:off x="696772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NewStartDate</a:t>
            </a:r>
          </a:p>
        </p:txBody>
      </p:sp>
      <p:sp>
        <p:nvSpPr>
          <p:cNvPr id="2068" name="RENEWAL attr NewEndDate"/>
          <p:cNvSpPr/>
          <p:nvPr/>
        </p:nvSpPr>
        <p:spPr>
          <a:xfrm>
            <a:off x="696772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NewEndDate</a:t>
            </a:r>
          </a:p>
        </p:txBody>
      </p:sp>
      <p:sp>
        <p:nvSpPr>
          <p:cNvPr id="2069" name="RENEWAL attr NewRent"/>
          <p:cNvSpPr/>
          <p:nvPr/>
        </p:nvSpPr>
        <p:spPr>
          <a:xfrm>
            <a:off x="6967728" y="590245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NewRent</a:t>
            </a:r>
          </a:p>
        </p:txBody>
      </p:sp>
      <p:sp>
        <p:nvSpPr>
          <p:cNvPr id="2070" name="RENEWAL attr RenewalDate"/>
          <p:cNvSpPr/>
          <p:nvPr/>
        </p:nvSpPr>
        <p:spPr>
          <a:xfrm>
            <a:off x="6967728" y="608533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RenewalDate</a:t>
            </a:r>
          </a:p>
        </p:txBody>
      </p:sp>
      <p:sp>
        <p:nvSpPr>
          <p:cNvPr id="2073" name="TERMINATION attr TerminationID"/>
          <p:cNvSpPr/>
          <p:nvPr/>
        </p:nvSpPr>
        <p:spPr>
          <a:xfrm>
            <a:off x="9116568" y="535381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u="sng" dirty="0">
                <a:solidFill>
                  <a:srgbClr val="2A2A28"/>
                </a:solidFill>
                <a:latin typeface="Calibri"/>
              </a:rPr>
              <a:t>TerminationID</a:t>
            </a:r>
          </a:p>
        </p:txBody>
      </p:sp>
      <p:sp>
        <p:nvSpPr>
          <p:cNvPr id="2074" name="TERMINATION attr TerminationDate"/>
          <p:cNvSpPr/>
          <p:nvPr/>
        </p:nvSpPr>
        <p:spPr>
          <a:xfrm>
            <a:off x="9116568" y="553669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TerminationDate</a:t>
            </a:r>
          </a:p>
        </p:txBody>
      </p:sp>
      <p:sp>
        <p:nvSpPr>
          <p:cNvPr id="2075" name="TERMINATION attr Reason"/>
          <p:cNvSpPr/>
          <p:nvPr/>
        </p:nvSpPr>
        <p:spPr>
          <a:xfrm>
            <a:off x="9116568" y="5719572"/>
            <a:ext cx="1197864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00" b="0" dirty="0">
                <a:solidFill>
                  <a:srgbClr val="2A2A28"/>
                </a:solidFill>
                <a:latin typeface="Calibri"/>
              </a:rPr>
              <a:t>Reason</a:t>
            </a:r>
          </a:p>
        </p:txBody>
      </p:sp>
      <p:sp>
        <p:nvSpPr>
          <p:cNvPr id="2076" name="Rel OWNS"/>
          <p:cNvSpPr/>
          <p:nvPr/>
        </p:nvSpPr>
        <p:spPr>
          <a:xfrm>
            <a:off x="2286000" y="1463040"/>
            <a:ext cx="4572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OWNS</a:t>
            </a:r>
          </a:p>
        </p:txBody>
      </p:sp>
      <p:sp>
        <p:nvSpPr>
          <p:cNvPr id="2081" name="Rel HAS"/>
          <p:cNvSpPr/>
          <p:nvPr/>
        </p:nvSpPr>
        <p:spPr>
          <a:xfrm>
            <a:off x="4343400" y="1463040"/>
            <a:ext cx="4572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HAS</a:t>
            </a:r>
          </a:p>
        </p:txBody>
      </p:sp>
      <p:sp>
        <p:nvSpPr>
          <p:cNvPr id="2086" name="Rel REQUESTED FOR"/>
          <p:cNvSpPr/>
          <p:nvPr/>
        </p:nvSpPr>
        <p:spPr>
          <a:xfrm>
            <a:off x="6446520" y="1463040"/>
            <a:ext cx="91440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REQUESTED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FOR</a:t>
            </a:r>
          </a:p>
        </p:txBody>
      </p:sp>
      <p:sp>
        <p:nvSpPr>
          <p:cNvPr id="2091" name="Rel SIGNS"/>
          <p:cNvSpPr/>
          <p:nvPr/>
        </p:nvSpPr>
        <p:spPr>
          <a:xfrm>
            <a:off x="6583680" y="3474720"/>
            <a:ext cx="64008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SIGNS</a:t>
            </a:r>
          </a:p>
        </p:txBody>
      </p:sp>
      <p:sp>
        <p:nvSpPr>
          <p:cNvPr id="2096" name="Rel PAID BY"/>
          <p:cNvSpPr/>
          <p:nvPr/>
        </p:nvSpPr>
        <p:spPr>
          <a:xfrm>
            <a:off x="2331720" y="5440680"/>
            <a:ext cx="502920" cy="4572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PAID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BY</a:t>
            </a:r>
          </a:p>
        </p:txBody>
      </p:sp>
      <p:sp>
        <p:nvSpPr>
          <p:cNvPr id="2101" name="Rel RAISED BY"/>
          <p:cNvSpPr/>
          <p:nvPr/>
        </p:nvSpPr>
        <p:spPr>
          <a:xfrm>
            <a:off x="7840980" y="2505456"/>
            <a:ext cx="731520" cy="4206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RAISED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BY</a:t>
            </a:r>
          </a:p>
        </p:txBody>
      </p:sp>
      <p:sp>
        <p:nvSpPr>
          <p:cNvPr id="2106" name="Rel UNDERGOES"/>
          <p:cNvSpPr/>
          <p:nvPr/>
        </p:nvSpPr>
        <p:spPr>
          <a:xfrm>
            <a:off x="4023360" y="2459736"/>
            <a:ext cx="914400" cy="4206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UNDERGOES</a:t>
            </a:r>
          </a:p>
        </p:txBody>
      </p:sp>
      <p:sp>
        <p:nvSpPr>
          <p:cNvPr id="2113" name="Rel LEASED THROUGH"/>
          <p:cNvSpPr/>
          <p:nvPr/>
        </p:nvSpPr>
        <p:spPr>
          <a:xfrm>
            <a:off x="5143500" y="2487168"/>
            <a:ext cx="914400" cy="42062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LEASED</a:t>
            </a:r>
          </a:p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THROUGH</a:t>
            </a:r>
          </a:p>
        </p:txBody>
      </p:sp>
      <p:sp>
        <p:nvSpPr>
          <p:cNvPr id="2118" name="Rel GENERATES"/>
          <p:cNvSpPr/>
          <p:nvPr/>
        </p:nvSpPr>
        <p:spPr>
          <a:xfrm>
            <a:off x="982980" y="4526280"/>
            <a:ext cx="100584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GENERATES</a:t>
            </a:r>
          </a:p>
        </p:txBody>
      </p:sp>
      <p:sp>
        <p:nvSpPr>
          <p:cNvPr id="2120" name="Rel GENERATES"/>
          <p:cNvSpPr/>
          <p:nvPr/>
        </p:nvSpPr>
        <p:spPr>
          <a:xfrm>
            <a:off x="3177540" y="4526280"/>
            <a:ext cx="100584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GENERATES</a:t>
            </a:r>
          </a:p>
        </p:txBody>
      </p:sp>
      <p:sp>
        <p:nvSpPr>
          <p:cNvPr id="2122" name="Rel HAS"/>
          <p:cNvSpPr/>
          <p:nvPr/>
        </p:nvSpPr>
        <p:spPr>
          <a:xfrm>
            <a:off x="5326380" y="4526280"/>
            <a:ext cx="54864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HAS</a:t>
            </a:r>
          </a:p>
        </p:txBody>
      </p:sp>
      <p:sp>
        <p:nvSpPr>
          <p:cNvPr id="2124" name="Rel MAY HAVE"/>
          <p:cNvSpPr/>
          <p:nvPr/>
        </p:nvSpPr>
        <p:spPr>
          <a:xfrm>
            <a:off x="7109460" y="4526280"/>
            <a:ext cx="91440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MAY HAVE</a:t>
            </a:r>
          </a:p>
        </p:txBody>
      </p:sp>
      <p:sp>
        <p:nvSpPr>
          <p:cNvPr id="2126" name="Rel MAY HAVE"/>
          <p:cNvSpPr/>
          <p:nvPr/>
        </p:nvSpPr>
        <p:spPr>
          <a:xfrm>
            <a:off x="9258300" y="4526280"/>
            <a:ext cx="914400" cy="36576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2A2A28"/>
                </a:solidFill>
                <a:latin typeface="Calibri"/>
              </a:rPr>
              <a:t>MAY HAVE</a:t>
            </a:r>
          </a:p>
        </p:txBody>
      </p:sp>
      <p:sp>
        <p:nvSpPr>
          <p:cNvPr id="2079" name="Card 1"/>
          <p:cNvSpPr txBox="1"/>
          <p:nvPr/>
        </p:nvSpPr>
        <p:spPr>
          <a:xfrm>
            <a:off x="2221992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80" name="Card M"/>
          <p:cNvSpPr txBox="1"/>
          <p:nvPr/>
        </p:nvSpPr>
        <p:spPr>
          <a:xfrm>
            <a:off x="253288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84" name="Card 1"/>
          <p:cNvSpPr txBox="1"/>
          <p:nvPr/>
        </p:nvSpPr>
        <p:spPr>
          <a:xfrm>
            <a:off x="4279392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85" name="Card M"/>
          <p:cNvSpPr txBox="1"/>
          <p:nvPr/>
        </p:nvSpPr>
        <p:spPr>
          <a:xfrm>
            <a:off x="459028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89" name="Card 1"/>
          <p:cNvSpPr txBox="1"/>
          <p:nvPr/>
        </p:nvSpPr>
        <p:spPr>
          <a:xfrm>
            <a:off x="6336792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90" name="Card M"/>
          <p:cNvSpPr txBox="1"/>
          <p:nvPr/>
        </p:nvSpPr>
        <p:spPr>
          <a:xfrm>
            <a:off x="7196328" y="150876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94" name="Card M"/>
          <p:cNvSpPr txBox="1"/>
          <p:nvPr/>
        </p:nvSpPr>
        <p:spPr>
          <a:xfrm>
            <a:off x="6336792" y="352044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095" name="Card 1"/>
          <p:cNvSpPr txBox="1"/>
          <p:nvPr/>
        </p:nvSpPr>
        <p:spPr>
          <a:xfrm>
            <a:off x="7196328" y="352044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099" name="Card 1"/>
          <p:cNvSpPr txBox="1"/>
          <p:nvPr/>
        </p:nvSpPr>
        <p:spPr>
          <a:xfrm>
            <a:off x="2221992" y="548640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00" name="Card M"/>
          <p:cNvSpPr txBox="1"/>
          <p:nvPr/>
        </p:nvSpPr>
        <p:spPr>
          <a:xfrm>
            <a:off x="2670048" y="548640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04" name="Card M"/>
          <p:cNvSpPr txBox="1"/>
          <p:nvPr/>
        </p:nvSpPr>
        <p:spPr>
          <a:xfrm>
            <a:off x="8261604" y="233172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05" name="Card 1"/>
          <p:cNvSpPr txBox="1"/>
          <p:nvPr/>
        </p:nvSpPr>
        <p:spPr>
          <a:xfrm>
            <a:off x="8261604" y="294436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11" name="Card 1"/>
          <p:cNvSpPr txBox="1"/>
          <p:nvPr/>
        </p:nvSpPr>
        <p:spPr>
          <a:xfrm>
            <a:off x="4590288" y="2093976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12" name="Card M"/>
          <p:cNvSpPr txBox="1"/>
          <p:nvPr/>
        </p:nvSpPr>
        <p:spPr>
          <a:xfrm>
            <a:off x="1531620" y="289864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16" name="Card 1"/>
          <p:cNvSpPr txBox="1"/>
          <p:nvPr/>
        </p:nvSpPr>
        <p:spPr>
          <a:xfrm>
            <a:off x="5655564" y="233172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17" name="Card M"/>
          <p:cNvSpPr txBox="1"/>
          <p:nvPr/>
        </p:nvSpPr>
        <p:spPr>
          <a:xfrm>
            <a:off x="5655564" y="292608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41" name="Card 1"/>
          <p:cNvSpPr txBox="1"/>
          <p:nvPr/>
        </p:nvSpPr>
        <p:spPr>
          <a:xfrm>
            <a:off x="4599432" y="42611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2" name="Card 1"/>
          <p:cNvSpPr txBox="1"/>
          <p:nvPr/>
        </p:nvSpPr>
        <p:spPr>
          <a:xfrm>
            <a:off x="4937760" y="44897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r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3" name="Card 1"/>
          <p:cNvSpPr txBox="1"/>
          <p:nvPr/>
        </p:nvSpPr>
        <p:spPr>
          <a:xfrm>
            <a:off x="5655564" y="435254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4" name="Card 1"/>
          <p:cNvSpPr txBox="1"/>
          <p:nvPr/>
        </p:nvSpPr>
        <p:spPr>
          <a:xfrm>
            <a:off x="6016752" y="44897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5" name="Card 1"/>
          <p:cNvSpPr txBox="1"/>
          <p:nvPr/>
        </p:nvSpPr>
        <p:spPr>
          <a:xfrm>
            <a:off x="6373368" y="426110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6" name="Card 1"/>
          <p:cNvSpPr txBox="1"/>
          <p:nvPr/>
        </p:nvSpPr>
        <p:spPr>
          <a:xfrm>
            <a:off x="5655564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1</a:t>
            </a:r>
          </a:p>
        </p:txBody>
      </p:sp>
      <p:sp>
        <p:nvSpPr>
          <p:cNvPr id="2147" name="Card M"/>
          <p:cNvSpPr txBox="1"/>
          <p:nvPr/>
        </p:nvSpPr>
        <p:spPr>
          <a:xfrm>
            <a:off x="1531620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48" name="Card M"/>
          <p:cNvSpPr txBox="1"/>
          <p:nvPr/>
        </p:nvSpPr>
        <p:spPr>
          <a:xfrm>
            <a:off x="3726180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49" name="Card M"/>
          <p:cNvSpPr txBox="1"/>
          <p:nvPr/>
        </p:nvSpPr>
        <p:spPr>
          <a:xfrm>
            <a:off x="7612380" y="491032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M</a:t>
            </a:r>
          </a:p>
        </p:txBody>
      </p:sp>
      <p:sp>
        <p:nvSpPr>
          <p:cNvPr id="2150" name="Card 0..1"/>
          <p:cNvSpPr txBox="1"/>
          <p:nvPr/>
        </p:nvSpPr>
        <p:spPr>
          <a:xfrm>
            <a:off x="9761220" y="4910328"/>
            <a:ext cx="365760" cy="1280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800" b="1" dirty="0">
                <a:solidFill>
                  <a:srgbClr val="2A2A28"/>
                </a:solidFill>
                <a:latin typeface="Calibri"/>
              </a:rPr>
              <a:t>0..1</a:t>
            </a:r>
          </a:p>
        </p:txBody>
      </p:sp>
      <p:sp>
        <p:nvSpPr>
          <p:cNvPr id="2151" name="Legend box"/>
          <p:cNvSpPr/>
          <p:nvPr/>
        </p:nvSpPr>
        <p:spPr>
          <a:xfrm>
            <a:off x="9189720" y="1097280"/>
            <a:ext cx="2194560" cy="1828800"/>
          </a:xfrm>
          <a:prstGeom prst="rect">
            <a:avLst/>
          </a:prstGeom>
          <a:solidFill>
            <a:srgbClr val="F0F1F2"/>
          </a:solidFill>
          <a:ln w="12700">
            <a:solidFill>
              <a:srgbClr val="C9CDD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2" name="Legend title"/>
          <p:cNvSpPr txBox="1"/>
          <p:nvPr/>
        </p:nvSpPr>
        <p:spPr>
          <a:xfrm>
            <a:off x="9189720" y="118872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850" b="1" dirty="0">
                <a:solidFill>
                  <a:srgbClr val="2A2A28"/>
                </a:solidFill>
                <a:latin typeface="Calibri"/>
              </a:rPr>
              <a:t>LEGEND</a:t>
            </a:r>
          </a:p>
        </p:txBody>
      </p:sp>
      <p:sp>
        <p:nvSpPr>
          <p:cNvPr id="2153" name="Legend entity"/>
          <p:cNvSpPr/>
          <p:nvPr/>
        </p:nvSpPr>
        <p:spPr>
          <a:xfrm>
            <a:off x="9372600" y="1463040"/>
            <a:ext cx="4572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4" name="Legend rel"/>
          <p:cNvSpPr/>
          <p:nvPr/>
        </p:nvSpPr>
        <p:spPr>
          <a:xfrm>
            <a:off x="9372600" y="1719072"/>
            <a:ext cx="457200" cy="2377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F444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5" name="Legend attr"/>
          <p:cNvSpPr/>
          <p:nvPr/>
        </p:nvSpPr>
        <p:spPr>
          <a:xfrm>
            <a:off x="9372600" y="1993392"/>
            <a:ext cx="45720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56" name="Legend key"/>
          <p:cNvSpPr/>
          <p:nvPr/>
        </p:nvSpPr>
        <p:spPr>
          <a:xfrm>
            <a:off x="9372600" y="2249424"/>
            <a:ext cx="45720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700" b="0" u="sng" dirty="0">
                <a:solidFill>
                  <a:srgbClr val="2A2A28"/>
                </a:solidFill>
                <a:latin typeface="Calibri"/>
              </a:rPr>
              <a:t>ID</a:t>
            </a:r>
          </a:p>
        </p:txBody>
      </p:sp>
      <p:sp>
        <p:nvSpPr>
          <p:cNvPr id="2157" name="Lt Entity"/>
          <p:cNvSpPr txBox="1"/>
          <p:nvPr/>
        </p:nvSpPr>
        <p:spPr>
          <a:xfrm>
            <a:off x="9966960" y="1453896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Entity</a:t>
            </a:r>
          </a:p>
        </p:txBody>
      </p:sp>
      <p:sp>
        <p:nvSpPr>
          <p:cNvPr id="2158" name="Lt Relationship"/>
          <p:cNvSpPr txBox="1"/>
          <p:nvPr/>
        </p:nvSpPr>
        <p:spPr>
          <a:xfrm>
            <a:off x="9966960" y="1719072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Relationship</a:t>
            </a:r>
          </a:p>
        </p:txBody>
      </p:sp>
      <p:sp>
        <p:nvSpPr>
          <p:cNvPr id="2159" name="Lt Attribute"/>
          <p:cNvSpPr txBox="1"/>
          <p:nvPr/>
        </p:nvSpPr>
        <p:spPr>
          <a:xfrm>
            <a:off x="9966960" y="1984248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Attribute</a:t>
            </a:r>
          </a:p>
        </p:txBody>
      </p:sp>
      <p:sp>
        <p:nvSpPr>
          <p:cNvPr id="2160" name="Lt Key Attribute"/>
          <p:cNvSpPr txBox="1"/>
          <p:nvPr/>
        </p:nvSpPr>
        <p:spPr>
          <a:xfrm>
            <a:off x="9966960" y="224942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l"/>
            <a:r>
              <a:rPr lang="en-US" sz="800" b="0" dirty="0">
                <a:solidFill>
                  <a:srgbClr val="2A2A28"/>
                </a:solidFill>
                <a:latin typeface="Calibri"/>
              </a:rPr>
              <a:t>Key Attribute</a:t>
            </a:r>
          </a:p>
        </p:txBody>
      </p:sp>
      <p:sp>
        <p:nvSpPr>
          <p:cNvPr id="2161" name="Lm 1 = One"/>
          <p:cNvSpPr txBox="1"/>
          <p:nvPr/>
        </p:nvSpPr>
        <p:spPr>
          <a:xfrm>
            <a:off x="9372600" y="2542032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2A2A28"/>
                </a:solidFill>
                <a:latin typeface="Calibri"/>
              </a:rPr>
              <a:t>1 = One</a:t>
            </a:r>
          </a:p>
        </p:txBody>
      </p:sp>
      <p:sp>
        <p:nvSpPr>
          <p:cNvPr id="2162" name="Lm M = Many"/>
          <p:cNvSpPr txBox="1"/>
          <p:nvPr/>
        </p:nvSpPr>
        <p:spPr>
          <a:xfrm>
            <a:off x="9372600" y="2660904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2A2A28"/>
                </a:solidFill>
                <a:latin typeface="Calibri"/>
              </a:rPr>
              <a:t>M = Many</a:t>
            </a:r>
          </a:p>
        </p:txBody>
      </p:sp>
      <p:sp>
        <p:nvSpPr>
          <p:cNvPr id="2163" name="Lm 0..1 = Zero or One"/>
          <p:cNvSpPr txBox="1"/>
          <p:nvPr/>
        </p:nvSpPr>
        <p:spPr>
          <a:xfrm>
            <a:off x="9372600" y="2779776"/>
            <a:ext cx="1828800" cy="1188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2A2A28"/>
                </a:solidFill>
                <a:latin typeface="Calibri"/>
              </a:rPr>
              <a:t>0..1 = Zero or 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Initial Relational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25272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owner_id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name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phone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email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address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25272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55448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property_id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owner_id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address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city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property_type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25272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property_id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unit_no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floor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bedrooms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rent_amount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14300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61120" y="114300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25272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55448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tenant_id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name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phone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email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id_proof_no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299008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29184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tenant_id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start_date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end_date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monthly_rent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9184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29000" y="299008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RENT_SCHEDULE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29184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schedule_id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due_date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amount_due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2648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299008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DEPOSIT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29184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deposit_id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amount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date_paid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refund_amount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refund_date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88036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61120" y="288036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80" y="299008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PAYMENT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80" y="329184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payment_id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schedule_id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amount_paid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payment_date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4360" y="47274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INSPECTION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02920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inspection_id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inspection_date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inspector_name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remarks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9184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29000" y="47274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MAINTENANCE_REQUEST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02920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request_id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unit_id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tenant_id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request_date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description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status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2648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63640" y="47274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RENEWAL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502920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renewal_id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renewal_date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new_end_date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new_rent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4617720"/>
            <a:ext cx="2697480" cy="1627632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961120" y="4617720"/>
            <a:ext cx="2697480" cy="36576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98280" y="4727448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4A4F56"/>
                </a:solidFill>
                <a:latin typeface="Cambria"/>
              </a:rPr>
              <a:t>TERMINATION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98280" y="5029200"/>
            <a:ext cx="2468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4A4F56"/>
                </a:solidFill>
                <a:latin typeface="Calibri"/>
              </a:rPr>
              <a:t>termination_id</a:t>
            </a:r>
            <a:r>
              <a:rPr sz="850" b="1">
                <a:solidFill>
                  <a:srgbClr val="80868E"/>
                </a:solidFill>
                <a:latin typeface="Calibri"/>
              </a:rPr>
              <a:t> PK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lease_id</a:t>
            </a:r>
            <a:r>
              <a:rPr sz="850" b="1">
                <a:solidFill>
                  <a:srgbClr val="80868E"/>
                </a:solidFill>
                <a:latin typeface="Calibri"/>
              </a:rPr>
              <a:t> FK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termination_date</a:t>
            </a:r>
          </a:p>
          <a:p>
            <a:pPr algn="l"/>
            <a:r>
              <a:rPr sz="950" b="0">
                <a:solidFill>
                  <a:srgbClr val="4A4F56"/>
                </a:solidFill>
                <a:latin typeface="Calibri"/>
              </a:rPr>
              <a:t>reason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75488"/>
            <a:ext cx="128016" cy="128016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2918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3F444B"/>
                </a:solidFill>
                <a:latin typeface="Cambria"/>
              </a:rPr>
              <a:t>Business Rules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10972"/>
          </a:xfrm>
          <a:prstGeom prst="rect">
            <a:avLst/>
          </a:prstGeom>
          <a:solidFill>
            <a:srgbClr val="DADD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400800" cy="42062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42062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A4F56"/>
                </a:solidFill>
                <a:latin typeface="Cambria"/>
              </a:rPr>
              <a:t>Business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989320" cy="3474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No overlapping active leases on the same unit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Lease end date must be after start date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Rent and deposit must be non-negative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Only available units can be leased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Payment amount cannot exceed amount due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Every payment must reference a rent schedule entry</a:t>
            </a:r>
          </a:p>
          <a:p>
            <a:pPr algn="l">
              <a:spcAft>
                <a:spcPts val="1000"/>
              </a:spcAft>
            </a:pPr>
            <a:r>
              <a:rPr sz="1000" b="0">
                <a:solidFill>
                  <a:srgbClr val="80868E"/>
                </a:solidFill>
                <a:latin typeface="Calibri"/>
              </a:rPr>
              <a:t>■  </a:t>
            </a:r>
            <a:r>
              <a:rPr sz="1400" b="0">
                <a:solidFill>
                  <a:srgbClr val="4A4F56"/>
                </a:solidFill>
                <a:latin typeface="Calibri"/>
              </a:rPr>
              <a:t>Maintenance requests must reference a valid unit and tenant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9752" y="1188720"/>
            <a:ext cx="4572000" cy="4206240"/>
          </a:xfrm>
          <a:prstGeom prst="rect">
            <a:avLst/>
          </a:prstGeom>
          <a:solidFill>
            <a:srgbClr val="3F44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1371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Conclusion &amp;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965960"/>
            <a:ext cx="4023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Problem identified, conceptual ER model designed, initial relational schema proposed.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31546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B8BEC6"/>
                </a:solidFill>
                <a:latin typeface="Calibri"/>
              </a:rP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520440"/>
            <a:ext cx="4023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>
                <a:solidFill>
                  <a:srgbClr val="B8BEC6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Normalize to 3NF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8BEC6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Implement DDL</a:t>
            </a:r>
          </a:p>
          <a:p>
            <a:pPr algn="l">
              <a:spcAft>
                <a:spcPts val="1000"/>
              </a:spcAft>
            </a:pPr>
            <a:r>
              <a:rPr sz="900" b="0">
                <a:solidFill>
                  <a:srgbClr val="B8BEC6"/>
                </a:solidFill>
                <a:latin typeface="Calibri"/>
              </a:rPr>
              <a:t>■  </a:t>
            </a:r>
            <a:r>
              <a:rPr sz="1400" b="0">
                <a:solidFill>
                  <a:srgbClr val="FFFFFF"/>
                </a:solidFill>
                <a:latin typeface="Calibri"/>
              </a:rPr>
              <a:t>Write SQL queries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669280"/>
            <a:ext cx="11274552" cy="548640"/>
          </a:xfrm>
          <a:prstGeom prst="rect">
            <a:avLst/>
          </a:prstGeom>
          <a:solidFill>
            <a:srgbClr val="F0F1F2"/>
          </a:solidFill>
          <a:ln w="9525">
            <a:solidFill>
              <a:srgbClr val="C9CDD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5669280"/>
            <a:ext cx="54864" cy="548640"/>
          </a:xfrm>
          <a:prstGeom prst="rect">
            <a:avLst/>
          </a:prstGeom>
          <a:solidFill>
            <a:srgbClr val="8086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4A4F56"/>
                </a:solidFill>
                <a:latin typeface="Calibri"/>
              </a:rPr>
              <a:t>Rules are enforced at database level through constraints, triggers, and a stored procedure.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808</Words>
  <Application>Microsoft Office PowerPoint</Application>
  <PresentationFormat>Widescreen</PresentationFormat>
  <Paragraphs>267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Zeeshan Mohd</cp:lastModifiedBy>
  <cp:revision>2</cp:revision>
  <dcterms:created xsi:type="dcterms:W3CDTF">2013-01-27T09:14:16Z</dcterms:created>
  <dcterms:modified xsi:type="dcterms:W3CDTF">2026-10-07T03:59:52Z</dcterms:modified>
  <cp:category/>
</cp:coreProperties>
</file>