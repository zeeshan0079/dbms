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4630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Calibri"/>
              </a:rPr>
              <a:t>DATABASE MANAGEMENT SYSTEM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74519"/>
            <a:ext cx="9445752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>
                <a:solidFill>
                  <a:srgbClr val="3F444B"/>
                </a:solidFill>
                <a:latin typeface="Cambria"/>
              </a:rPr>
              <a:t>Design and Implementation of a Database Management System for Property Rental and Lease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3840480"/>
            <a:ext cx="914400" cy="18288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06908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6B7280"/>
                </a:solidFill>
                <a:latin typeface="Calibri"/>
              </a:rPr>
              <a:t>DBMS Project-Based Learning –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98348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6B7280"/>
                </a:solidFill>
                <a:latin typeface="Calibri"/>
              </a:rPr>
              <a:t>PRESENTED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5780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A4F56"/>
                </a:solidFill>
                <a:latin typeface="Calibri"/>
              </a:rPr>
              <a:t>Mohammad Zeeshan</a:t>
            </a:r>
            <a:r>
              <a:rPr sz="1400" b="0">
                <a:solidFill>
                  <a:srgbClr val="4A4F56"/>
                </a:solidFill>
                <a:latin typeface="Calibri"/>
              </a:rPr>
              <a:t>   •   Roll No. 25WU0102160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F444B"/>
                </a:solidFill>
                <a:latin typeface="Cambria"/>
              </a:rPr>
              <a:t>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257800" cy="384048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" cy="384048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A4F56"/>
                </a:solidFill>
                <a:latin typeface="Calibri"/>
              </a:rPr>
              <a:t>Property rental agencies manage owners, properties, units, tenants, leases, rent, and maintenance manually — causing missed rent collection, overlapping leases, and no visibility into vacant units.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Resulting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0">
                <a:solidFill>
                  <a:srgbClr val="80868E"/>
                </a:solidFill>
                <a:latin typeface="Calibri"/>
              </a:rPr>
              <a:t>■  </a:t>
            </a:r>
            <a:r>
              <a:rPr sz="1300" b="0">
                <a:solidFill>
                  <a:srgbClr val="4A4F56"/>
                </a:solidFill>
                <a:latin typeface="Calibri"/>
              </a:rPr>
              <a:t>Late or untracked rent payments</a:t>
            </a:r>
          </a:p>
          <a:p>
            <a:pPr algn="l">
              <a:spcAft>
                <a:spcPts val="700"/>
              </a:spcAft>
            </a:pPr>
            <a:r>
              <a:rPr sz="900" b="0">
                <a:solidFill>
                  <a:srgbClr val="80868E"/>
                </a:solidFill>
                <a:latin typeface="Calibri"/>
              </a:rPr>
              <a:t>■  </a:t>
            </a:r>
            <a:r>
              <a:rPr sz="1300" b="0">
                <a:solidFill>
                  <a:srgbClr val="4A4F56"/>
                </a:solidFill>
                <a:latin typeface="Calibri"/>
              </a:rPr>
              <a:t>Double-booked units and invalid lease dates</a:t>
            </a:r>
          </a:p>
          <a:p>
            <a:pPr algn="l">
              <a:spcAft>
                <a:spcPts val="700"/>
              </a:spcAft>
            </a:pPr>
            <a:r>
              <a:rPr sz="900" b="0">
                <a:solidFill>
                  <a:srgbClr val="80868E"/>
                </a:solidFill>
                <a:latin typeface="Calibri"/>
              </a:rPr>
              <a:t>■  </a:t>
            </a:r>
            <a:r>
              <a:rPr sz="1300" b="0">
                <a:solidFill>
                  <a:srgbClr val="4A4F56"/>
                </a:solidFill>
                <a:latin typeface="Calibri"/>
              </a:rPr>
              <a:t>Scattered tenant and maintenance records</a:t>
            </a:r>
          </a:p>
          <a:p>
            <a:pPr algn="l">
              <a:spcAft>
                <a:spcPts val="700"/>
              </a:spcAft>
            </a:pPr>
            <a:r>
              <a:rPr sz="900" b="0">
                <a:solidFill>
                  <a:srgbClr val="80868E"/>
                </a:solidFill>
                <a:latin typeface="Calibri"/>
              </a:rPr>
              <a:t>■  </a:t>
            </a:r>
            <a:r>
              <a:rPr sz="1300" b="0">
                <a:solidFill>
                  <a:srgbClr val="4A4F56"/>
                </a:solidFill>
                <a:latin typeface="Calibri"/>
              </a:rPr>
              <a:t>No quick reports for owners or managers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88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F444B"/>
                </a:solidFill>
                <a:latin typeface="Cambria"/>
              </a:rPr>
              <a:t>Objectives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00200"/>
            <a:ext cx="5513832" cy="85039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00200"/>
            <a:ext cx="54864" cy="850392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2821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libri"/>
              </a:rPr>
              <a:t>Normalized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57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Design a normalized database for rental operations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578608"/>
            <a:ext cx="5513832" cy="85039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578608"/>
            <a:ext cx="54864" cy="850392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70662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libri"/>
              </a:rPr>
              <a:t>Lease Integrity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0358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Prevent overlapping or invalid leases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557016"/>
            <a:ext cx="5513832" cy="85039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557016"/>
            <a:ext cx="54864" cy="850392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6850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libri"/>
              </a:rPr>
              <a:t>Financial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01421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Track rent, payments, deposits, and maintenance accurately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535424"/>
            <a:ext cx="5513832" cy="85039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535424"/>
            <a:ext cx="54864" cy="850392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663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libri"/>
              </a:rPr>
              <a:t>Operational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99262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Enable quick reports on vacancies, dues, expiries, and income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669280"/>
            <a:ext cx="54864" cy="5486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66928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A4F56"/>
                </a:solidFill>
                <a:latin typeface="Calibri"/>
              </a:rPr>
              <a:t>A centralized relational database replaces manual record keeping with consistent, queryable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Scope &amp;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265176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265176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4F56"/>
                </a:solidFill>
                <a:latin typeface="Cambria"/>
              </a:rPr>
              <a:t>System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07492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Manages properties and rental units, including leasing, tenant records, rent billing, and payments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Handles inspections, maintenance requests, lease renewals, terminations, and rental reporting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188720"/>
            <a:ext cx="5486400" cy="265176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188720"/>
            <a:ext cx="54864" cy="265176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35331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4F56"/>
                </a:solidFill>
                <a:latin typeface="Cambria"/>
              </a:rPr>
              <a:t>User 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783080"/>
            <a:ext cx="507492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Property Manager — manages listings, leases, and billing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Owner — views property status and income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Tenant — views lease, dues, and raises maintenance requests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3685032" cy="12344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54864" cy="12344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3F444B"/>
                </a:solidFill>
                <a:latin typeface="Cambria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Database tables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4114800"/>
            <a:ext cx="3685032" cy="12344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4114800"/>
            <a:ext cx="54864" cy="12344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20624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3F444B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846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User roles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4114800"/>
            <a:ext cx="3685032" cy="12344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4114800"/>
            <a:ext cx="54864" cy="12344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420624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3F444B"/>
                </a:solidFill>
                <a:latin typeface="Cambr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846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Views &amp; reports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669280"/>
            <a:ext cx="54864" cy="5486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66928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A4F56"/>
                </a:solidFill>
                <a:latin typeface="Calibri"/>
              </a:rPr>
              <a:t>Scope covers the complete rental lifecycle: listing, leasing, billing, upkeep, renewal, and termination.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Functional Requirements &amp; Entities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4A4F56"/>
                </a:solidFill>
                <a:latin typeface="Calibri"/>
              </a:rPr>
              <a:t>The system allows the agency to register owners, properties, units, and tenants; create leases; generate rent schedules and payments; log inspections and maintenance; process renewals and terminations; and generate reports.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11274552" cy="73152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54864" cy="73152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libri"/>
              </a:rPr>
              <a:t>Core Entities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240280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4A4F56"/>
                </a:solidFill>
                <a:latin typeface="Calibri"/>
              </a:rPr>
              <a:t>Owner, Property, Unit, Tenant, Lease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36392"/>
            <a:ext cx="11274552" cy="73152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136392"/>
            <a:ext cx="54864" cy="73152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36392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libri"/>
              </a:rPr>
              <a:t>Financial Entities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136392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4A4F56"/>
                </a:solidFill>
                <a:latin typeface="Calibri"/>
              </a:rPr>
              <a:t>Rent Schedule, Deposit, Payment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32504"/>
            <a:ext cx="11274552" cy="73152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032504"/>
            <a:ext cx="54864" cy="73152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32504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libri"/>
              </a:rPr>
              <a:t>Operational Entities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032504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4A4F56"/>
                </a:solidFill>
                <a:latin typeface="Calibri"/>
              </a:rPr>
              <a:t>Inspection, Maintenance Request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28616"/>
            <a:ext cx="11274552" cy="73152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928616"/>
            <a:ext cx="54864" cy="73152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28616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libri"/>
              </a:rPr>
              <a:t>Lifecycle Entities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4928616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4A4F56"/>
                </a:solidFill>
                <a:latin typeface="Calibri"/>
              </a:rPr>
              <a:t>Renewal, Termination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852160"/>
            <a:ext cx="54864" cy="5486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85216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A4F56"/>
                </a:solidFill>
                <a:latin typeface="Calibri"/>
              </a:rPr>
              <a:t>Twelve entities together cover ownership, leasing, finance, operations, and lease lifecycle events.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Entity-Relationship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cxnSp>
        <p:nvCxnSpPr>
          <p:cNvPr id="2077" name="Connector"/>
          <p:cNvCxnSpPr/>
          <p:nvPr/>
        </p:nvCxnSpPr>
        <p:spPr>
          <a:xfrm>
            <a:off x="2194560" y="1691640"/>
            <a:ext cx="9144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078" name="Connector"/>
          <p:cNvCxnSpPr/>
          <p:nvPr/>
        </p:nvCxnSpPr>
        <p:spPr>
          <a:xfrm>
            <a:off x="2743200" y="1691640"/>
            <a:ext cx="9144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082" name="Connector"/>
          <p:cNvCxnSpPr/>
          <p:nvPr/>
        </p:nvCxnSpPr>
        <p:spPr>
          <a:xfrm>
            <a:off x="4251960" y="1691640"/>
            <a:ext cx="9144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083" name="Connector"/>
          <p:cNvCxnSpPr/>
          <p:nvPr/>
        </p:nvCxnSpPr>
        <p:spPr>
          <a:xfrm>
            <a:off x="4800600" y="1691640"/>
            <a:ext cx="9144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087" name="Connector"/>
          <p:cNvCxnSpPr/>
          <p:nvPr/>
        </p:nvCxnSpPr>
        <p:spPr>
          <a:xfrm>
            <a:off x="6309360" y="1691640"/>
            <a:ext cx="13716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088" name="Connector"/>
          <p:cNvCxnSpPr/>
          <p:nvPr/>
        </p:nvCxnSpPr>
        <p:spPr>
          <a:xfrm>
            <a:off x="7360920" y="1691640"/>
            <a:ext cx="13716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092" name="Connector"/>
          <p:cNvCxnSpPr/>
          <p:nvPr/>
        </p:nvCxnSpPr>
        <p:spPr>
          <a:xfrm>
            <a:off x="6309360" y="3703320"/>
            <a:ext cx="27432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093" name="Connector"/>
          <p:cNvCxnSpPr/>
          <p:nvPr/>
        </p:nvCxnSpPr>
        <p:spPr>
          <a:xfrm>
            <a:off x="7223760" y="3703320"/>
            <a:ext cx="27432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097" name="Connector"/>
          <p:cNvCxnSpPr/>
          <p:nvPr/>
        </p:nvCxnSpPr>
        <p:spPr>
          <a:xfrm>
            <a:off x="2194560" y="5669280"/>
            <a:ext cx="13716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098" name="Connector"/>
          <p:cNvCxnSpPr/>
          <p:nvPr/>
        </p:nvCxnSpPr>
        <p:spPr>
          <a:xfrm>
            <a:off x="2834640" y="5669280"/>
            <a:ext cx="13716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02" name="Connector"/>
          <p:cNvCxnSpPr/>
          <p:nvPr/>
        </p:nvCxnSpPr>
        <p:spPr>
          <a:xfrm>
            <a:off x="8206740" y="2313432"/>
            <a:ext cx="0" cy="192024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03" name="Connector"/>
          <p:cNvCxnSpPr/>
          <p:nvPr/>
        </p:nvCxnSpPr>
        <p:spPr>
          <a:xfrm>
            <a:off x="8206740" y="2926080"/>
            <a:ext cx="0" cy="18288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07" name="Connector"/>
          <p:cNvCxnSpPr/>
          <p:nvPr/>
        </p:nvCxnSpPr>
        <p:spPr>
          <a:xfrm>
            <a:off x="4480560" y="2258568"/>
            <a:ext cx="41148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08" name="Connector"/>
          <p:cNvCxnSpPr/>
          <p:nvPr/>
        </p:nvCxnSpPr>
        <p:spPr>
          <a:xfrm>
            <a:off x="4480560" y="2258568"/>
            <a:ext cx="0" cy="201168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09" name="Connector"/>
          <p:cNvCxnSpPr/>
          <p:nvPr/>
        </p:nvCxnSpPr>
        <p:spPr>
          <a:xfrm>
            <a:off x="1485900" y="2670048"/>
            <a:ext cx="253746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10" name="Connector"/>
          <p:cNvCxnSpPr/>
          <p:nvPr/>
        </p:nvCxnSpPr>
        <p:spPr>
          <a:xfrm>
            <a:off x="1485900" y="2670048"/>
            <a:ext cx="0" cy="438912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14" name="Connector"/>
          <p:cNvCxnSpPr/>
          <p:nvPr/>
        </p:nvCxnSpPr>
        <p:spPr>
          <a:xfrm>
            <a:off x="5600700" y="2313432"/>
            <a:ext cx="0" cy="173736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15" name="Connector"/>
          <p:cNvCxnSpPr/>
          <p:nvPr/>
        </p:nvCxnSpPr>
        <p:spPr>
          <a:xfrm>
            <a:off x="5600700" y="2907792"/>
            <a:ext cx="0" cy="201168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19" name="Connector"/>
          <p:cNvCxnSpPr/>
          <p:nvPr/>
        </p:nvCxnSpPr>
        <p:spPr>
          <a:xfrm>
            <a:off x="1485900" y="4892040"/>
            <a:ext cx="0" cy="18288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21" name="Connector"/>
          <p:cNvCxnSpPr/>
          <p:nvPr/>
        </p:nvCxnSpPr>
        <p:spPr>
          <a:xfrm>
            <a:off x="3680460" y="4892040"/>
            <a:ext cx="0" cy="18288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23" name="Connector"/>
          <p:cNvCxnSpPr/>
          <p:nvPr/>
        </p:nvCxnSpPr>
        <p:spPr>
          <a:xfrm>
            <a:off x="5600700" y="4892040"/>
            <a:ext cx="0" cy="18288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25" name="Connector"/>
          <p:cNvCxnSpPr/>
          <p:nvPr/>
        </p:nvCxnSpPr>
        <p:spPr>
          <a:xfrm>
            <a:off x="7566660" y="4892040"/>
            <a:ext cx="0" cy="18288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27" name="Connector"/>
          <p:cNvCxnSpPr/>
          <p:nvPr/>
        </p:nvCxnSpPr>
        <p:spPr>
          <a:xfrm>
            <a:off x="9715500" y="4892040"/>
            <a:ext cx="0" cy="18288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28" name="Connector"/>
          <p:cNvCxnSpPr/>
          <p:nvPr/>
        </p:nvCxnSpPr>
        <p:spPr>
          <a:xfrm>
            <a:off x="4978908" y="4325112"/>
            <a:ext cx="0" cy="73152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29" name="Connector"/>
          <p:cNvCxnSpPr/>
          <p:nvPr/>
        </p:nvCxnSpPr>
        <p:spPr>
          <a:xfrm>
            <a:off x="1485900" y="4398264"/>
            <a:ext cx="3493008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30" name="Connector"/>
          <p:cNvCxnSpPr/>
          <p:nvPr/>
        </p:nvCxnSpPr>
        <p:spPr>
          <a:xfrm>
            <a:off x="1485900" y="4398264"/>
            <a:ext cx="0" cy="128016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31" name="Connector"/>
          <p:cNvCxnSpPr/>
          <p:nvPr/>
        </p:nvCxnSpPr>
        <p:spPr>
          <a:xfrm>
            <a:off x="5212080" y="4325112"/>
            <a:ext cx="0" cy="146304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32" name="Connector"/>
          <p:cNvCxnSpPr/>
          <p:nvPr/>
        </p:nvCxnSpPr>
        <p:spPr>
          <a:xfrm>
            <a:off x="3680460" y="4471416"/>
            <a:ext cx="153162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33" name="Connector"/>
          <p:cNvCxnSpPr/>
          <p:nvPr/>
        </p:nvCxnSpPr>
        <p:spPr>
          <a:xfrm>
            <a:off x="3680460" y="4471416"/>
            <a:ext cx="0" cy="54864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34" name="Connector"/>
          <p:cNvCxnSpPr/>
          <p:nvPr/>
        </p:nvCxnSpPr>
        <p:spPr>
          <a:xfrm>
            <a:off x="5600700" y="4325112"/>
            <a:ext cx="0" cy="201168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35" name="Connector"/>
          <p:cNvCxnSpPr/>
          <p:nvPr/>
        </p:nvCxnSpPr>
        <p:spPr>
          <a:xfrm>
            <a:off x="5989320" y="4325112"/>
            <a:ext cx="0" cy="146304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36" name="Connector"/>
          <p:cNvCxnSpPr/>
          <p:nvPr/>
        </p:nvCxnSpPr>
        <p:spPr>
          <a:xfrm>
            <a:off x="5989320" y="4471416"/>
            <a:ext cx="157734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37" name="Connector"/>
          <p:cNvCxnSpPr/>
          <p:nvPr/>
        </p:nvCxnSpPr>
        <p:spPr>
          <a:xfrm>
            <a:off x="7566660" y="4471416"/>
            <a:ext cx="0" cy="54864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38" name="Connector"/>
          <p:cNvCxnSpPr/>
          <p:nvPr/>
        </p:nvCxnSpPr>
        <p:spPr>
          <a:xfrm>
            <a:off x="6222492" y="4325112"/>
            <a:ext cx="0" cy="73152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39" name="Connector"/>
          <p:cNvCxnSpPr/>
          <p:nvPr/>
        </p:nvCxnSpPr>
        <p:spPr>
          <a:xfrm>
            <a:off x="6222492" y="4398264"/>
            <a:ext cx="3493008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40" name="Connector"/>
          <p:cNvCxnSpPr/>
          <p:nvPr/>
        </p:nvCxnSpPr>
        <p:spPr>
          <a:xfrm>
            <a:off x="9715500" y="4398264"/>
            <a:ext cx="0" cy="128016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sp>
        <p:nvSpPr>
          <p:cNvPr id="2001" name="OWNER box"/>
          <p:cNvSpPr/>
          <p:nvPr/>
        </p:nvSpPr>
        <p:spPr>
          <a:xfrm>
            <a:off x="777240" y="1097280"/>
            <a:ext cx="141732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2" name="OWNER header"/>
          <p:cNvSpPr/>
          <p:nvPr/>
        </p:nvSpPr>
        <p:spPr>
          <a:xfrm>
            <a:off x="777240" y="109728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OWNER</a:t>
            </a:r>
          </a:p>
        </p:txBody>
      </p:sp>
      <p:sp>
        <p:nvSpPr>
          <p:cNvPr id="2007" name="PROPERTY box"/>
          <p:cNvSpPr/>
          <p:nvPr/>
        </p:nvSpPr>
        <p:spPr>
          <a:xfrm>
            <a:off x="2834640" y="1097280"/>
            <a:ext cx="141732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8" name="PROPERTY header"/>
          <p:cNvSpPr/>
          <p:nvPr/>
        </p:nvSpPr>
        <p:spPr>
          <a:xfrm>
            <a:off x="2834640" y="109728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PROPERTY</a:t>
            </a:r>
          </a:p>
        </p:txBody>
      </p:sp>
      <p:sp>
        <p:nvSpPr>
          <p:cNvPr id="2013" name="UNIT box"/>
          <p:cNvSpPr/>
          <p:nvPr/>
        </p:nvSpPr>
        <p:spPr>
          <a:xfrm>
            <a:off x="4892040" y="1097280"/>
            <a:ext cx="141732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14" name="UNIT header"/>
          <p:cNvSpPr/>
          <p:nvPr/>
        </p:nvSpPr>
        <p:spPr>
          <a:xfrm>
            <a:off x="4892040" y="109728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UNIT</a:t>
            </a:r>
          </a:p>
        </p:txBody>
      </p:sp>
      <p:sp>
        <p:nvSpPr>
          <p:cNvPr id="2020" name="MAINTENANCE REQUEST box"/>
          <p:cNvSpPr/>
          <p:nvPr/>
        </p:nvSpPr>
        <p:spPr>
          <a:xfrm>
            <a:off x="7498080" y="1097280"/>
            <a:ext cx="141732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21" name="MAINTENANCE REQUEST header"/>
          <p:cNvSpPr/>
          <p:nvPr/>
        </p:nvSpPr>
        <p:spPr>
          <a:xfrm>
            <a:off x="7498080" y="109728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750" b="1" dirty="0">
                <a:solidFill>
                  <a:srgbClr val="2A2A28"/>
                </a:solidFill>
                <a:latin typeface="Calibri"/>
              </a:rPr>
              <a:t>MAINTENANCE REQUEST</a:t>
            </a:r>
          </a:p>
        </p:txBody>
      </p:sp>
      <p:sp>
        <p:nvSpPr>
          <p:cNvPr id="2027" name="INSPECTION box"/>
          <p:cNvSpPr/>
          <p:nvPr/>
        </p:nvSpPr>
        <p:spPr>
          <a:xfrm>
            <a:off x="777240" y="3108960"/>
            <a:ext cx="141732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28" name="INSPECTION header"/>
          <p:cNvSpPr/>
          <p:nvPr/>
        </p:nvSpPr>
        <p:spPr>
          <a:xfrm>
            <a:off x="777240" y="310896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INSPECTION</a:t>
            </a:r>
          </a:p>
        </p:txBody>
      </p:sp>
      <p:sp>
        <p:nvSpPr>
          <p:cNvPr id="2033" name="LEASE box"/>
          <p:cNvSpPr/>
          <p:nvPr/>
        </p:nvSpPr>
        <p:spPr>
          <a:xfrm>
            <a:off x="4892040" y="3108960"/>
            <a:ext cx="141732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34" name="LEASE header"/>
          <p:cNvSpPr/>
          <p:nvPr/>
        </p:nvSpPr>
        <p:spPr>
          <a:xfrm>
            <a:off x="4892040" y="310896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LEASE</a:t>
            </a:r>
          </a:p>
        </p:txBody>
      </p:sp>
      <p:sp>
        <p:nvSpPr>
          <p:cNvPr id="2040" name="TENANT box"/>
          <p:cNvSpPr/>
          <p:nvPr/>
        </p:nvSpPr>
        <p:spPr>
          <a:xfrm>
            <a:off x="7498080" y="3108960"/>
            <a:ext cx="141732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41" name="TENANT header"/>
          <p:cNvSpPr/>
          <p:nvPr/>
        </p:nvSpPr>
        <p:spPr>
          <a:xfrm>
            <a:off x="7498080" y="310896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TENANT</a:t>
            </a:r>
          </a:p>
        </p:txBody>
      </p:sp>
      <p:sp>
        <p:nvSpPr>
          <p:cNvPr id="2046" name="RENT SCHEDULE box"/>
          <p:cNvSpPr/>
          <p:nvPr/>
        </p:nvSpPr>
        <p:spPr>
          <a:xfrm>
            <a:off x="777240" y="5074920"/>
            <a:ext cx="141732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47" name="RENT SCHEDULE header"/>
          <p:cNvSpPr/>
          <p:nvPr/>
        </p:nvSpPr>
        <p:spPr>
          <a:xfrm>
            <a:off x="777240" y="507492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RENT SCHEDULE</a:t>
            </a:r>
          </a:p>
        </p:txBody>
      </p:sp>
      <p:sp>
        <p:nvSpPr>
          <p:cNvPr id="2052" name="PAYMENT box"/>
          <p:cNvSpPr/>
          <p:nvPr/>
        </p:nvSpPr>
        <p:spPr>
          <a:xfrm>
            <a:off x="2971800" y="5074920"/>
            <a:ext cx="141732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53" name="PAYMENT header"/>
          <p:cNvSpPr/>
          <p:nvPr/>
        </p:nvSpPr>
        <p:spPr>
          <a:xfrm>
            <a:off x="2971800" y="507492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PAYMENT</a:t>
            </a:r>
          </a:p>
        </p:txBody>
      </p:sp>
      <p:sp>
        <p:nvSpPr>
          <p:cNvPr id="2058" name="DEPOSIT box"/>
          <p:cNvSpPr/>
          <p:nvPr/>
        </p:nvSpPr>
        <p:spPr>
          <a:xfrm>
            <a:off x="4892040" y="5074920"/>
            <a:ext cx="141732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59" name="DEPOSIT header"/>
          <p:cNvSpPr/>
          <p:nvPr/>
        </p:nvSpPr>
        <p:spPr>
          <a:xfrm>
            <a:off x="4892040" y="507492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DEPOSIT</a:t>
            </a:r>
          </a:p>
        </p:txBody>
      </p:sp>
      <p:sp>
        <p:nvSpPr>
          <p:cNvPr id="2064" name="RENEWAL box"/>
          <p:cNvSpPr/>
          <p:nvPr/>
        </p:nvSpPr>
        <p:spPr>
          <a:xfrm>
            <a:off x="6858000" y="5074920"/>
            <a:ext cx="141732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65" name="RENEWAL header"/>
          <p:cNvSpPr/>
          <p:nvPr/>
        </p:nvSpPr>
        <p:spPr>
          <a:xfrm>
            <a:off x="6858000" y="507492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RENEWAL</a:t>
            </a:r>
          </a:p>
        </p:txBody>
      </p:sp>
      <p:sp>
        <p:nvSpPr>
          <p:cNvPr id="2071" name="TERMINATION box"/>
          <p:cNvSpPr/>
          <p:nvPr/>
        </p:nvSpPr>
        <p:spPr>
          <a:xfrm>
            <a:off x="9006840" y="5074920"/>
            <a:ext cx="14173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72" name="TERMINATION header"/>
          <p:cNvSpPr/>
          <p:nvPr/>
        </p:nvSpPr>
        <p:spPr>
          <a:xfrm>
            <a:off x="9006840" y="507492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TERMINATION</a:t>
            </a:r>
          </a:p>
        </p:txBody>
      </p:sp>
      <p:sp>
        <p:nvSpPr>
          <p:cNvPr id="2003" name="OWNER attr OwnerID"/>
          <p:cNvSpPr/>
          <p:nvPr/>
        </p:nvSpPr>
        <p:spPr>
          <a:xfrm>
            <a:off x="886968" y="137617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OwnerID</a:t>
            </a:r>
          </a:p>
        </p:txBody>
      </p:sp>
      <p:sp>
        <p:nvSpPr>
          <p:cNvPr id="2004" name="OWNER attr OwnerName"/>
          <p:cNvSpPr/>
          <p:nvPr/>
        </p:nvSpPr>
        <p:spPr>
          <a:xfrm>
            <a:off x="886968" y="155905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OwnerName</a:t>
            </a:r>
          </a:p>
        </p:txBody>
      </p:sp>
      <p:sp>
        <p:nvSpPr>
          <p:cNvPr id="2005" name="OWNER attr Phone"/>
          <p:cNvSpPr/>
          <p:nvPr/>
        </p:nvSpPr>
        <p:spPr>
          <a:xfrm>
            <a:off x="886968" y="174193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Phone</a:t>
            </a:r>
          </a:p>
        </p:txBody>
      </p:sp>
      <p:sp>
        <p:nvSpPr>
          <p:cNvPr id="2006" name="OWNER attr Email"/>
          <p:cNvSpPr/>
          <p:nvPr/>
        </p:nvSpPr>
        <p:spPr>
          <a:xfrm>
            <a:off x="886968" y="19248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Email</a:t>
            </a:r>
          </a:p>
        </p:txBody>
      </p:sp>
      <p:sp>
        <p:nvSpPr>
          <p:cNvPr id="2009" name="PROPERTY attr PropertyID"/>
          <p:cNvSpPr/>
          <p:nvPr/>
        </p:nvSpPr>
        <p:spPr>
          <a:xfrm>
            <a:off x="2944368" y="137617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PropertyID</a:t>
            </a:r>
          </a:p>
        </p:txBody>
      </p:sp>
      <p:sp>
        <p:nvSpPr>
          <p:cNvPr id="2010" name="PROPERTY attr PropertyName"/>
          <p:cNvSpPr/>
          <p:nvPr/>
        </p:nvSpPr>
        <p:spPr>
          <a:xfrm>
            <a:off x="2944368" y="155905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PropertyName</a:t>
            </a:r>
          </a:p>
        </p:txBody>
      </p:sp>
      <p:sp>
        <p:nvSpPr>
          <p:cNvPr id="2011" name="PROPERTY attr Address"/>
          <p:cNvSpPr/>
          <p:nvPr/>
        </p:nvSpPr>
        <p:spPr>
          <a:xfrm>
            <a:off x="2944368" y="174193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Address</a:t>
            </a:r>
          </a:p>
        </p:txBody>
      </p:sp>
      <p:sp>
        <p:nvSpPr>
          <p:cNvPr id="2012" name="PROPERTY attr Type"/>
          <p:cNvSpPr/>
          <p:nvPr/>
        </p:nvSpPr>
        <p:spPr>
          <a:xfrm>
            <a:off x="2944368" y="19248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Type</a:t>
            </a:r>
          </a:p>
        </p:txBody>
      </p:sp>
      <p:sp>
        <p:nvSpPr>
          <p:cNvPr id="2015" name="UNIT attr UnitID"/>
          <p:cNvSpPr/>
          <p:nvPr/>
        </p:nvSpPr>
        <p:spPr>
          <a:xfrm>
            <a:off x="5001768" y="137617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UnitID</a:t>
            </a:r>
          </a:p>
        </p:txBody>
      </p:sp>
      <p:sp>
        <p:nvSpPr>
          <p:cNvPr id="2016" name="UNIT attr UnitNumber"/>
          <p:cNvSpPr/>
          <p:nvPr/>
        </p:nvSpPr>
        <p:spPr>
          <a:xfrm>
            <a:off x="5001768" y="155905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UnitNumber</a:t>
            </a:r>
          </a:p>
        </p:txBody>
      </p:sp>
      <p:sp>
        <p:nvSpPr>
          <p:cNvPr id="2017" name="UNIT attr UnitType"/>
          <p:cNvSpPr/>
          <p:nvPr/>
        </p:nvSpPr>
        <p:spPr>
          <a:xfrm>
            <a:off x="5001768" y="174193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UnitType</a:t>
            </a:r>
          </a:p>
        </p:txBody>
      </p:sp>
      <p:sp>
        <p:nvSpPr>
          <p:cNvPr id="2018" name="UNIT attr RentAmount"/>
          <p:cNvSpPr/>
          <p:nvPr/>
        </p:nvSpPr>
        <p:spPr>
          <a:xfrm>
            <a:off x="5001768" y="19248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RentAmount</a:t>
            </a:r>
          </a:p>
        </p:txBody>
      </p:sp>
      <p:sp>
        <p:nvSpPr>
          <p:cNvPr id="2019" name="UNIT attr Status"/>
          <p:cNvSpPr/>
          <p:nvPr/>
        </p:nvSpPr>
        <p:spPr>
          <a:xfrm>
            <a:off x="5001768" y="210769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Status</a:t>
            </a:r>
          </a:p>
        </p:txBody>
      </p:sp>
      <p:sp>
        <p:nvSpPr>
          <p:cNvPr id="2022" name="MAINTENANCE REQUEST attr RequestID"/>
          <p:cNvSpPr/>
          <p:nvPr/>
        </p:nvSpPr>
        <p:spPr>
          <a:xfrm>
            <a:off x="7607808" y="137617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RequestID</a:t>
            </a:r>
          </a:p>
        </p:txBody>
      </p:sp>
      <p:sp>
        <p:nvSpPr>
          <p:cNvPr id="2023" name="MAINTENANCE REQUEST attr RequestDate"/>
          <p:cNvSpPr/>
          <p:nvPr/>
        </p:nvSpPr>
        <p:spPr>
          <a:xfrm>
            <a:off x="7607808" y="155905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RequestDate</a:t>
            </a:r>
          </a:p>
        </p:txBody>
      </p:sp>
      <p:sp>
        <p:nvSpPr>
          <p:cNvPr id="2024" name="MAINTENANCE REQUEST attr Description"/>
          <p:cNvSpPr/>
          <p:nvPr/>
        </p:nvSpPr>
        <p:spPr>
          <a:xfrm>
            <a:off x="7607808" y="174193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Description</a:t>
            </a:r>
          </a:p>
        </p:txBody>
      </p:sp>
      <p:sp>
        <p:nvSpPr>
          <p:cNvPr id="2025" name="MAINTENANCE REQUEST attr Status"/>
          <p:cNvSpPr/>
          <p:nvPr/>
        </p:nvSpPr>
        <p:spPr>
          <a:xfrm>
            <a:off x="7607808" y="19248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Status</a:t>
            </a:r>
          </a:p>
        </p:txBody>
      </p:sp>
      <p:sp>
        <p:nvSpPr>
          <p:cNvPr id="2026" name="MAINTENANCE REQUEST attr AssignedTo"/>
          <p:cNvSpPr/>
          <p:nvPr/>
        </p:nvSpPr>
        <p:spPr>
          <a:xfrm>
            <a:off x="7607808" y="210769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AssignedTo</a:t>
            </a:r>
          </a:p>
        </p:txBody>
      </p:sp>
      <p:sp>
        <p:nvSpPr>
          <p:cNvPr id="2029" name="INSPECTION attr InspectionID"/>
          <p:cNvSpPr/>
          <p:nvPr/>
        </p:nvSpPr>
        <p:spPr>
          <a:xfrm>
            <a:off x="886968" y="338785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InspectionID</a:t>
            </a:r>
          </a:p>
        </p:txBody>
      </p:sp>
      <p:sp>
        <p:nvSpPr>
          <p:cNvPr id="2030" name="INSPECTION attr InspectionDate"/>
          <p:cNvSpPr/>
          <p:nvPr/>
        </p:nvSpPr>
        <p:spPr>
          <a:xfrm>
            <a:off x="886968" y="357073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InspectionDate</a:t>
            </a:r>
          </a:p>
        </p:txBody>
      </p:sp>
      <p:sp>
        <p:nvSpPr>
          <p:cNvPr id="2031" name="INSPECTION attr Condition"/>
          <p:cNvSpPr/>
          <p:nvPr/>
        </p:nvSpPr>
        <p:spPr>
          <a:xfrm>
            <a:off x="886968" y="37536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Condition</a:t>
            </a:r>
          </a:p>
        </p:txBody>
      </p:sp>
      <p:sp>
        <p:nvSpPr>
          <p:cNvPr id="2032" name="INSPECTION attr Remarks"/>
          <p:cNvSpPr/>
          <p:nvPr/>
        </p:nvSpPr>
        <p:spPr>
          <a:xfrm>
            <a:off x="886968" y="393649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Remarks</a:t>
            </a:r>
          </a:p>
        </p:txBody>
      </p:sp>
      <p:sp>
        <p:nvSpPr>
          <p:cNvPr id="2035" name="LEASE attr LeaseID"/>
          <p:cNvSpPr/>
          <p:nvPr/>
        </p:nvSpPr>
        <p:spPr>
          <a:xfrm>
            <a:off x="5001768" y="338785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LeaseID</a:t>
            </a:r>
          </a:p>
        </p:txBody>
      </p:sp>
      <p:sp>
        <p:nvSpPr>
          <p:cNvPr id="2036" name="LEASE attr StartDate"/>
          <p:cNvSpPr/>
          <p:nvPr/>
        </p:nvSpPr>
        <p:spPr>
          <a:xfrm>
            <a:off x="5001768" y="357073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StartDate</a:t>
            </a:r>
          </a:p>
        </p:txBody>
      </p:sp>
      <p:sp>
        <p:nvSpPr>
          <p:cNvPr id="2037" name="LEASE attr EndDate"/>
          <p:cNvSpPr/>
          <p:nvPr/>
        </p:nvSpPr>
        <p:spPr>
          <a:xfrm>
            <a:off x="5001768" y="37536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EndDate</a:t>
            </a:r>
          </a:p>
        </p:txBody>
      </p:sp>
      <p:sp>
        <p:nvSpPr>
          <p:cNvPr id="2038" name="LEASE attr MonthlyRent"/>
          <p:cNvSpPr/>
          <p:nvPr/>
        </p:nvSpPr>
        <p:spPr>
          <a:xfrm>
            <a:off x="5001768" y="393649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MonthlyRent</a:t>
            </a:r>
          </a:p>
        </p:txBody>
      </p:sp>
      <p:sp>
        <p:nvSpPr>
          <p:cNvPr id="2039" name="LEASE attr Status"/>
          <p:cNvSpPr/>
          <p:nvPr/>
        </p:nvSpPr>
        <p:spPr>
          <a:xfrm>
            <a:off x="5001768" y="411937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Status</a:t>
            </a:r>
          </a:p>
        </p:txBody>
      </p:sp>
      <p:sp>
        <p:nvSpPr>
          <p:cNvPr id="2042" name="TENANT attr TenantID"/>
          <p:cNvSpPr/>
          <p:nvPr/>
        </p:nvSpPr>
        <p:spPr>
          <a:xfrm>
            <a:off x="7607808" y="338785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TenantID</a:t>
            </a:r>
          </a:p>
        </p:txBody>
      </p:sp>
      <p:sp>
        <p:nvSpPr>
          <p:cNvPr id="2043" name="TENANT attr TenantName"/>
          <p:cNvSpPr/>
          <p:nvPr/>
        </p:nvSpPr>
        <p:spPr>
          <a:xfrm>
            <a:off x="7607808" y="357073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TenantName</a:t>
            </a:r>
          </a:p>
        </p:txBody>
      </p:sp>
      <p:sp>
        <p:nvSpPr>
          <p:cNvPr id="2044" name="TENANT attr Phone"/>
          <p:cNvSpPr/>
          <p:nvPr/>
        </p:nvSpPr>
        <p:spPr>
          <a:xfrm>
            <a:off x="7607808" y="37536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Phone</a:t>
            </a:r>
          </a:p>
        </p:txBody>
      </p:sp>
      <p:sp>
        <p:nvSpPr>
          <p:cNvPr id="2045" name="TENANT attr Email"/>
          <p:cNvSpPr/>
          <p:nvPr/>
        </p:nvSpPr>
        <p:spPr>
          <a:xfrm>
            <a:off x="7607808" y="393649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Email</a:t>
            </a:r>
          </a:p>
        </p:txBody>
      </p:sp>
      <p:sp>
        <p:nvSpPr>
          <p:cNvPr id="2048" name="RENT SCHEDULE attr ScheduleID"/>
          <p:cNvSpPr/>
          <p:nvPr/>
        </p:nvSpPr>
        <p:spPr>
          <a:xfrm>
            <a:off x="886968" y="53538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ScheduleID</a:t>
            </a:r>
          </a:p>
        </p:txBody>
      </p:sp>
      <p:sp>
        <p:nvSpPr>
          <p:cNvPr id="2049" name="RENT SCHEDULE attr DueDate"/>
          <p:cNvSpPr/>
          <p:nvPr/>
        </p:nvSpPr>
        <p:spPr>
          <a:xfrm>
            <a:off x="886968" y="553669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DueDate</a:t>
            </a:r>
          </a:p>
        </p:txBody>
      </p:sp>
      <p:sp>
        <p:nvSpPr>
          <p:cNvPr id="2050" name="RENT SCHEDULE attr Amount"/>
          <p:cNvSpPr/>
          <p:nvPr/>
        </p:nvSpPr>
        <p:spPr>
          <a:xfrm>
            <a:off x="886968" y="571957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Amount</a:t>
            </a:r>
          </a:p>
        </p:txBody>
      </p:sp>
      <p:sp>
        <p:nvSpPr>
          <p:cNvPr id="2051" name="RENT SCHEDULE attr Status"/>
          <p:cNvSpPr/>
          <p:nvPr/>
        </p:nvSpPr>
        <p:spPr>
          <a:xfrm>
            <a:off x="886968" y="590245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Status</a:t>
            </a:r>
          </a:p>
        </p:txBody>
      </p:sp>
      <p:sp>
        <p:nvSpPr>
          <p:cNvPr id="2054" name="PAYMENT attr PaymentID"/>
          <p:cNvSpPr/>
          <p:nvPr/>
        </p:nvSpPr>
        <p:spPr>
          <a:xfrm>
            <a:off x="3081528" y="53538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PaymentID</a:t>
            </a:r>
          </a:p>
        </p:txBody>
      </p:sp>
      <p:sp>
        <p:nvSpPr>
          <p:cNvPr id="2055" name="PAYMENT attr PaymentDate"/>
          <p:cNvSpPr/>
          <p:nvPr/>
        </p:nvSpPr>
        <p:spPr>
          <a:xfrm>
            <a:off x="3081528" y="553669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PaymentDate</a:t>
            </a:r>
          </a:p>
        </p:txBody>
      </p:sp>
      <p:sp>
        <p:nvSpPr>
          <p:cNvPr id="2056" name="PAYMENT attr AmountPaid"/>
          <p:cNvSpPr/>
          <p:nvPr/>
        </p:nvSpPr>
        <p:spPr>
          <a:xfrm>
            <a:off x="3081528" y="571957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AmountPaid</a:t>
            </a:r>
          </a:p>
        </p:txBody>
      </p:sp>
      <p:sp>
        <p:nvSpPr>
          <p:cNvPr id="2057" name="PAYMENT attr PaymentMode"/>
          <p:cNvSpPr/>
          <p:nvPr/>
        </p:nvSpPr>
        <p:spPr>
          <a:xfrm>
            <a:off x="3081528" y="590245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PaymentMode</a:t>
            </a:r>
          </a:p>
        </p:txBody>
      </p:sp>
      <p:sp>
        <p:nvSpPr>
          <p:cNvPr id="2060" name="DEPOSIT attr DepositID"/>
          <p:cNvSpPr/>
          <p:nvPr/>
        </p:nvSpPr>
        <p:spPr>
          <a:xfrm>
            <a:off x="5001768" y="53538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DepositID</a:t>
            </a:r>
          </a:p>
        </p:txBody>
      </p:sp>
      <p:sp>
        <p:nvSpPr>
          <p:cNvPr id="2061" name="DEPOSIT attr Amount"/>
          <p:cNvSpPr/>
          <p:nvPr/>
        </p:nvSpPr>
        <p:spPr>
          <a:xfrm>
            <a:off x="5001768" y="553669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Amount</a:t>
            </a:r>
          </a:p>
        </p:txBody>
      </p:sp>
      <p:sp>
        <p:nvSpPr>
          <p:cNvPr id="2062" name="DEPOSIT attr PaidDate"/>
          <p:cNvSpPr/>
          <p:nvPr/>
        </p:nvSpPr>
        <p:spPr>
          <a:xfrm>
            <a:off x="5001768" y="571957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PaidDate</a:t>
            </a:r>
          </a:p>
        </p:txBody>
      </p:sp>
      <p:sp>
        <p:nvSpPr>
          <p:cNvPr id="2063" name="DEPOSIT attr Status"/>
          <p:cNvSpPr/>
          <p:nvPr/>
        </p:nvSpPr>
        <p:spPr>
          <a:xfrm>
            <a:off x="5001768" y="590245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Status</a:t>
            </a:r>
          </a:p>
        </p:txBody>
      </p:sp>
      <p:sp>
        <p:nvSpPr>
          <p:cNvPr id="2066" name="RENEWAL attr RenewalID"/>
          <p:cNvSpPr/>
          <p:nvPr/>
        </p:nvSpPr>
        <p:spPr>
          <a:xfrm>
            <a:off x="6967728" y="53538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RenewalID</a:t>
            </a:r>
          </a:p>
        </p:txBody>
      </p:sp>
      <p:sp>
        <p:nvSpPr>
          <p:cNvPr id="2067" name="RENEWAL attr NewStartDate"/>
          <p:cNvSpPr/>
          <p:nvPr/>
        </p:nvSpPr>
        <p:spPr>
          <a:xfrm>
            <a:off x="6967728" y="553669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NewStartDate</a:t>
            </a:r>
          </a:p>
        </p:txBody>
      </p:sp>
      <p:sp>
        <p:nvSpPr>
          <p:cNvPr id="2068" name="RENEWAL attr NewEndDate"/>
          <p:cNvSpPr/>
          <p:nvPr/>
        </p:nvSpPr>
        <p:spPr>
          <a:xfrm>
            <a:off x="6967728" y="571957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NewEndDate</a:t>
            </a:r>
          </a:p>
        </p:txBody>
      </p:sp>
      <p:sp>
        <p:nvSpPr>
          <p:cNvPr id="2069" name="RENEWAL attr NewRent"/>
          <p:cNvSpPr/>
          <p:nvPr/>
        </p:nvSpPr>
        <p:spPr>
          <a:xfrm>
            <a:off x="6967728" y="590245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NewRent</a:t>
            </a:r>
          </a:p>
        </p:txBody>
      </p:sp>
      <p:sp>
        <p:nvSpPr>
          <p:cNvPr id="2070" name="RENEWAL attr RenewalDate"/>
          <p:cNvSpPr/>
          <p:nvPr/>
        </p:nvSpPr>
        <p:spPr>
          <a:xfrm>
            <a:off x="6967728" y="608533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RenewalDate</a:t>
            </a:r>
          </a:p>
        </p:txBody>
      </p:sp>
      <p:sp>
        <p:nvSpPr>
          <p:cNvPr id="2073" name="TERMINATION attr TerminationID"/>
          <p:cNvSpPr/>
          <p:nvPr/>
        </p:nvSpPr>
        <p:spPr>
          <a:xfrm>
            <a:off x="9116568" y="53538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TerminationID</a:t>
            </a:r>
          </a:p>
        </p:txBody>
      </p:sp>
      <p:sp>
        <p:nvSpPr>
          <p:cNvPr id="2074" name="TERMINATION attr TerminationDate"/>
          <p:cNvSpPr/>
          <p:nvPr/>
        </p:nvSpPr>
        <p:spPr>
          <a:xfrm>
            <a:off x="9116568" y="553669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TerminationDate</a:t>
            </a:r>
          </a:p>
        </p:txBody>
      </p:sp>
      <p:sp>
        <p:nvSpPr>
          <p:cNvPr id="2075" name="TERMINATION attr Reason"/>
          <p:cNvSpPr/>
          <p:nvPr/>
        </p:nvSpPr>
        <p:spPr>
          <a:xfrm>
            <a:off x="9116568" y="571957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Reason</a:t>
            </a:r>
          </a:p>
        </p:txBody>
      </p:sp>
      <p:sp>
        <p:nvSpPr>
          <p:cNvPr id="2076" name="Rel OWNS"/>
          <p:cNvSpPr/>
          <p:nvPr/>
        </p:nvSpPr>
        <p:spPr>
          <a:xfrm>
            <a:off x="2286000" y="1463040"/>
            <a:ext cx="457200" cy="4572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OWNS</a:t>
            </a:r>
          </a:p>
        </p:txBody>
      </p:sp>
      <p:sp>
        <p:nvSpPr>
          <p:cNvPr id="2081" name="Rel HAS"/>
          <p:cNvSpPr/>
          <p:nvPr/>
        </p:nvSpPr>
        <p:spPr>
          <a:xfrm>
            <a:off x="4343400" y="1463040"/>
            <a:ext cx="457200" cy="4572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HAS</a:t>
            </a:r>
          </a:p>
        </p:txBody>
      </p:sp>
      <p:sp>
        <p:nvSpPr>
          <p:cNvPr id="2086" name="Rel REQUESTED FOR"/>
          <p:cNvSpPr/>
          <p:nvPr/>
        </p:nvSpPr>
        <p:spPr>
          <a:xfrm>
            <a:off x="6446520" y="1463040"/>
            <a:ext cx="914400" cy="4572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REQUESTED</a:t>
            </a:r>
          </a:p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FOR</a:t>
            </a:r>
          </a:p>
        </p:txBody>
      </p:sp>
      <p:sp>
        <p:nvSpPr>
          <p:cNvPr id="2091" name="Rel SIGNS"/>
          <p:cNvSpPr/>
          <p:nvPr/>
        </p:nvSpPr>
        <p:spPr>
          <a:xfrm>
            <a:off x="6583680" y="3474720"/>
            <a:ext cx="640080" cy="4572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SIGNS</a:t>
            </a:r>
          </a:p>
        </p:txBody>
      </p:sp>
      <p:sp>
        <p:nvSpPr>
          <p:cNvPr id="2096" name="Rel PAID BY"/>
          <p:cNvSpPr/>
          <p:nvPr/>
        </p:nvSpPr>
        <p:spPr>
          <a:xfrm>
            <a:off x="2331720" y="5440680"/>
            <a:ext cx="502920" cy="4572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PAID</a:t>
            </a:r>
          </a:p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BY</a:t>
            </a:r>
          </a:p>
        </p:txBody>
      </p:sp>
      <p:sp>
        <p:nvSpPr>
          <p:cNvPr id="2101" name="Rel RAISED BY"/>
          <p:cNvSpPr/>
          <p:nvPr/>
        </p:nvSpPr>
        <p:spPr>
          <a:xfrm>
            <a:off x="7840980" y="2505456"/>
            <a:ext cx="731520" cy="42062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RAISED</a:t>
            </a:r>
          </a:p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BY</a:t>
            </a:r>
          </a:p>
        </p:txBody>
      </p:sp>
      <p:sp>
        <p:nvSpPr>
          <p:cNvPr id="2106" name="Rel UNDERGOES"/>
          <p:cNvSpPr/>
          <p:nvPr/>
        </p:nvSpPr>
        <p:spPr>
          <a:xfrm>
            <a:off x="4023360" y="2459736"/>
            <a:ext cx="914400" cy="42062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UNDERGOES</a:t>
            </a:r>
          </a:p>
        </p:txBody>
      </p:sp>
      <p:sp>
        <p:nvSpPr>
          <p:cNvPr id="2113" name="Rel LEASED THROUGH"/>
          <p:cNvSpPr/>
          <p:nvPr/>
        </p:nvSpPr>
        <p:spPr>
          <a:xfrm>
            <a:off x="5143500" y="2487168"/>
            <a:ext cx="914400" cy="42062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LEASED</a:t>
            </a:r>
          </a:p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THROUGH</a:t>
            </a:r>
          </a:p>
        </p:txBody>
      </p:sp>
      <p:sp>
        <p:nvSpPr>
          <p:cNvPr id="2118" name="Rel GENERATES"/>
          <p:cNvSpPr/>
          <p:nvPr/>
        </p:nvSpPr>
        <p:spPr>
          <a:xfrm>
            <a:off x="982980" y="4526280"/>
            <a:ext cx="1005840" cy="36576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GENERATES</a:t>
            </a:r>
          </a:p>
        </p:txBody>
      </p:sp>
      <p:sp>
        <p:nvSpPr>
          <p:cNvPr id="2120" name="Rel GENERATES"/>
          <p:cNvSpPr/>
          <p:nvPr/>
        </p:nvSpPr>
        <p:spPr>
          <a:xfrm>
            <a:off x="3177540" y="4526280"/>
            <a:ext cx="1005840" cy="36576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GENERATES</a:t>
            </a:r>
          </a:p>
        </p:txBody>
      </p:sp>
      <p:sp>
        <p:nvSpPr>
          <p:cNvPr id="2122" name="Rel HAS"/>
          <p:cNvSpPr/>
          <p:nvPr/>
        </p:nvSpPr>
        <p:spPr>
          <a:xfrm>
            <a:off x="5326380" y="4526280"/>
            <a:ext cx="548640" cy="36576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HAS</a:t>
            </a:r>
          </a:p>
        </p:txBody>
      </p:sp>
      <p:sp>
        <p:nvSpPr>
          <p:cNvPr id="2124" name="Rel MAY HAVE"/>
          <p:cNvSpPr/>
          <p:nvPr/>
        </p:nvSpPr>
        <p:spPr>
          <a:xfrm>
            <a:off x="7109460" y="4526280"/>
            <a:ext cx="914400" cy="36576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MAY HAVE</a:t>
            </a:r>
          </a:p>
        </p:txBody>
      </p:sp>
      <p:sp>
        <p:nvSpPr>
          <p:cNvPr id="2126" name="Rel MAY HAVE"/>
          <p:cNvSpPr/>
          <p:nvPr/>
        </p:nvSpPr>
        <p:spPr>
          <a:xfrm>
            <a:off x="9258300" y="4526280"/>
            <a:ext cx="914400" cy="36576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MAY HAVE</a:t>
            </a:r>
          </a:p>
        </p:txBody>
      </p:sp>
      <p:sp>
        <p:nvSpPr>
          <p:cNvPr id="2079" name="Card 1"/>
          <p:cNvSpPr txBox="1"/>
          <p:nvPr/>
        </p:nvSpPr>
        <p:spPr>
          <a:xfrm>
            <a:off x="2221992" y="150876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080" name="Card M"/>
          <p:cNvSpPr txBox="1"/>
          <p:nvPr/>
        </p:nvSpPr>
        <p:spPr>
          <a:xfrm>
            <a:off x="2532888" y="150876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r"/>
            <a:r>
              <a:rPr lang="en-US" sz="800" b="1" dirty="0">
                <a:solidFill>
                  <a:srgbClr val="2A2A28"/>
                </a:solidFill>
                <a:latin typeface="Calibri"/>
              </a:rPr>
              <a:t>M</a:t>
            </a:r>
          </a:p>
        </p:txBody>
      </p:sp>
      <p:sp>
        <p:nvSpPr>
          <p:cNvPr id="2084" name="Card 1"/>
          <p:cNvSpPr txBox="1"/>
          <p:nvPr/>
        </p:nvSpPr>
        <p:spPr>
          <a:xfrm>
            <a:off x="4279392" y="150876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085" name="Card M"/>
          <p:cNvSpPr txBox="1"/>
          <p:nvPr/>
        </p:nvSpPr>
        <p:spPr>
          <a:xfrm>
            <a:off x="4590288" y="150876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r"/>
            <a:r>
              <a:rPr lang="en-US" sz="800" b="1" dirty="0">
                <a:solidFill>
                  <a:srgbClr val="2A2A28"/>
                </a:solidFill>
                <a:latin typeface="Calibri"/>
              </a:rPr>
              <a:t>M</a:t>
            </a:r>
          </a:p>
        </p:txBody>
      </p:sp>
      <p:sp>
        <p:nvSpPr>
          <p:cNvPr id="2089" name="Card 1"/>
          <p:cNvSpPr txBox="1"/>
          <p:nvPr/>
        </p:nvSpPr>
        <p:spPr>
          <a:xfrm>
            <a:off x="6336792" y="150876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090" name="Card M"/>
          <p:cNvSpPr txBox="1"/>
          <p:nvPr/>
        </p:nvSpPr>
        <p:spPr>
          <a:xfrm>
            <a:off x="7196328" y="150876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r"/>
            <a:r>
              <a:rPr lang="en-US" sz="800" b="1" dirty="0">
                <a:solidFill>
                  <a:srgbClr val="2A2A28"/>
                </a:solidFill>
                <a:latin typeface="Calibri"/>
              </a:rPr>
              <a:t>M</a:t>
            </a:r>
          </a:p>
        </p:txBody>
      </p:sp>
      <p:sp>
        <p:nvSpPr>
          <p:cNvPr id="2094" name="Card M"/>
          <p:cNvSpPr txBox="1"/>
          <p:nvPr/>
        </p:nvSpPr>
        <p:spPr>
          <a:xfrm>
            <a:off x="6336792" y="352044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M</a:t>
            </a:r>
          </a:p>
        </p:txBody>
      </p:sp>
      <p:sp>
        <p:nvSpPr>
          <p:cNvPr id="2095" name="Card 1"/>
          <p:cNvSpPr txBox="1"/>
          <p:nvPr/>
        </p:nvSpPr>
        <p:spPr>
          <a:xfrm>
            <a:off x="7196328" y="352044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r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099" name="Card 1"/>
          <p:cNvSpPr txBox="1"/>
          <p:nvPr/>
        </p:nvSpPr>
        <p:spPr>
          <a:xfrm>
            <a:off x="2221992" y="548640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100" name="Card M"/>
          <p:cNvSpPr txBox="1"/>
          <p:nvPr/>
        </p:nvSpPr>
        <p:spPr>
          <a:xfrm>
            <a:off x="2670048" y="548640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r"/>
            <a:r>
              <a:rPr lang="en-US" sz="800" b="1" dirty="0">
                <a:solidFill>
                  <a:srgbClr val="2A2A28"/>
                </a:solidFill>
                <a:latin typeface="Calibri"/>
              </a:rPr>
              <a:t>M</a:t>
            </a:r>
          </a:p>
        </p:txBody>
      </p:sp>
      <p:sp>
        <p:nvSpPr>
          <p:cNvPr id="2104" name="Card M"/>
          <p:cNvSpPr txBox="1"/>
          <p:nvPr/>
        </p:nvSpPr>
        <p:spPr>
          <a:xfrm>
            <a:off x="8261604" y="233172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M</a:t>
            </a:r>
          </a:p>
        </p:txBody>
      </p:sp>
      <p:sp>
        <p:nvSpPr>
          <p:cNvPr id="2105" name="Card 1"/>
          <p:cNvSpPr txBox="1"/>
          <p:nvPr/>
        </p:nvSpPr>
        <p:spPr>
          <a:xfrm>
            <a:off x="8261604" y="2944368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111" name="Card 1"/>
          <p:cNvSpPr txBox="1"/>
          <p:nvPr/>
        </p:nvSpPr>
        <p:spPr>
          <a:xfrm>
            <a:off x="4590288" y="2093976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r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112" name="Card M"/>
          <p:cNvSpPr txBox="1"/>
          <p:nvPr/>
        </p:nvSpPr>
        <p:spPr>
          <a:xfrm>
            <a:off x="1531620" y="2898648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M</a:t>
            </a:r>
          </a:p>
        </p:txBody>
      </p:sp>
      <p:sp>
        <p:nvSpPr>
          <p:cNvPr id="2116" name="Card 1"/>
          <p:cNvSpPr txBox="1"/>
          <p:nvPr/>
        </p:nvSpPr>
        <p:spPr>
          <a:xfrm>
            <a:off x="5655564" y="233172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117" name="Card M"/>
          <p:cNvSpPr txBox="1"/>
          <p:nvPr/>
        </p:nvSpPr>
        <p:spPr>
          <a:xfrm>
            <a:off x="5655564" y="292608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M</a:t>
            </a:r>
          </a:p>
        </p:txBody>
      </p:sp>
      <p:sp>
        <p:nvSpPr>
          <p:cNvPr id="2141" name="Card 1"/>
          <p:cNvSpPr txBox="1"/>
          <p:nvPr/>
        </p:nvSpPr>
        <p:spPr>
          <a:xfrm>
            <a:off x="4599432" y="4261104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r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142" name="Card 1"/>
          <p:cNvSpPr txBox="1"/>
          <p:nvPr/>
        </p:nvSpPr>
        <p:spPr>
          <a:xfrm>
            <a:off x="4937760" y="4489704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r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143" name="Card 1"/>
          <p:cNvSpPr txBox="1"/>
          <p:nvPr/>
        </p:nvSpPr>
        <p:spPr>
          <a:xfrm>
            <a:off x="5655564" y="4352544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144" name="Card 1"/>
          <p:cNvSpPr txBox="1"/>
          <p:nvPr/>
        </p:nvSpPr>
        <p:spPr>
          <a:xfrm>
            <a:off x="6016752" y="4489704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145" name="Card 1"/>
          <p:cNvSpPr txBox="1"/>
          <p:nvPr/>
        </p:nvSpPr>
        <p:spPr>
          <a:xfrm>
            <a:off x="6373368" y="4261104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146" name="Card 1"/>
          <p:cNvSpPr txBox="1"/>
          <p:nvPr/>
        </p:nvSpPr>
        <p:spPr>
          <a:xfrm>
            <a:off x="5655564" y="4910328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147" name="Card M"/>
          <p:cNvSpPr txBox="1"/>
          <p:nvPr/>
        </p:nvSpPr>
        <p:spPr>
          <a:xfrm>
            <a:off x="1531620" y="4910328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M</a:t>
            </a:r>
          </a:p>
        </p:txBody>
      </p:sp>
      <p:sp>
        <p:nvSpPr>
          <p:cNvPr id="2148" name="Card M"/>
          <p:cNvSpPr txBox="1"/>
          <p:nvPr/>
        </p:nvSpPr>
        <p:spPr>
          <a:xfrm>
            <a:off x="3726180" y="4910328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M</a:t>
            </a:r>
          </a:p>
        </p:txBody>
      </p:sp>
      <p:sp>
        <p:nvSpPr>
          <p:cNvPr id="2149" name="Card M"/>
          <p:cNvSpPr txBox="1"/>
          <p:nvPr/>
        </p:nvSpPr>
        <p:spPr>
          <a:xfrm>
            <a:off x="7612380" y="4910328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M</a:t>
            </a:r>
          </a:p>
        </p:txBody>
      </p:sp>
      <p:sp>
        <p:nvSpPr>
          <p:cNvPr id="2150" name="Card 0..1"/>
          <p:cNvSpPr txBox="1"/>
          <p:nvPr/>
        </p:nvSpPr>
        <p:spPr>
          <a:xfrm>
            <a:off x="9761220" y="4910328"/>
            <a:ext cx="36576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0..1</a:t>
            </a:r>
          </a:p>
        </p:txBody>
      </p:sp>
      <p:sp>
        <p:nvSpPr>
          <p:cNvPr id="2151" name="Legend box"/>
          <p:cNvSpPr/>
          <p:nvPr/>
        </p:nvSpPr>
        <p:spPr>
          <a:xfrm>
            <a:off x="9189720" y="1097280"/>
            <a:ext cx="2194560" cy="1828800"/>
          </a:xfrm>
          <a:prstGeom prst="rect">
            <a:avLst/>
          </a:prstGeom>
          <a:solidFill>
            <a:srgbClr val="F0F1F2"/>
          </a:solidFill>
          <a:ln w="12700">
            <a:solidFill>
              <a:srgbClr val="C9CDD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52" name="Legend title"/>
          <p:cNvSpPr txBox="1"/>
          <p:nvPr/>
        </p:nvSpPr>
        <p:spPr>
          <a:xfrm>
            <a:off x="9189720" y="1188720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LEGEND</a:t>
            </a:r>
          </a:p>
        </p:txBody>
      </p:sp>
      <p:sp>
        <p:nvSpPr>
          <p:cNvPr id="2153" name="Legend entity"/>
          <p:cNvSpPr/>
          <p:nvPr/>
        </p:nvSpPr>
        <p:spPr>
          <a:xfrm>
            <a:off x="9372600" y="1463040"/>
            <a:ext cx="4572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54" name="Legend rel"/>
          <p:cNvSpPr/>
          <p:nvPr/>
        </p:nvSpPr>
        <p:spPr>
          <a:xfrm>
            <a:off x="9372600" y="1719072"/>
            <a:ext cx="457200" cy="2377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55" name="Legend attr"/>
          <p:cNvSpPr/>
          <p:nvPr/>
        </p:nvSpPr>
        <p:spPr>
          <a:xfrm>
            <a:off x="9372600" y="1993392"/>
            <a:ext cx="45720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56" name="Legend key"/>
          <p:cNvSpPr/>
          <p:nvPr/>
        </p:nvSpPr>
        <p:spPr>
          <a:xfrm>
            <a:off x="9372600" y="2249424"/>
            <a:ext cx="45720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700" b="0" u="sng" dirty="0">
                <a:solidFill>
                  <a:srgbClr val="2A2A28"/>
                </a:solidFill>
                <a:latin typeface="Calibri"/>
              </a:rPr>
              <a:t>ID</a:t>
            </a:r>
          </a:p>
        </p:txBody>
      </p:sp>
      <p:sp>
        <p:nvSpPr>
          <p:cNvPr id="2157" name="Lt Entity"/>
          <p:cNvSpPr txBox="1"/>
          <p:nvPr/>
        </p:nvSpPr>
        <p:spPr>
          <a:xfrm>
            <a:off x="9966960" y="1453896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lang="en-US" sz="800" b="0" dirty="0">
                <a:solidFill>
                  <a:srgbClr val="2A2A28"/>
                </a:solidFill>
                <a:latin typeface="Calibri"/>
              </a:rPr>
              <a:t>Entity</a:t>
            </a:r>
          </a:p>
        </p:txBody>
      </p:sp>
      <p:sp>
        <p:nvSpPr>
          <p:cNvPr id="2158" name="Lt Relationship"/>
          <p:cNvSpPr txBox="1"/>
          <p:nvPr/>
        </p:nvSpPr>
        <p:spPr>
          <a:xfrm>
            <a:off x="9966960" y="171907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lang="en-US" sz="800" b="0" dirty="0">
                <a:solidFill>
                  <a:srgbClr val="2A2A28"/>
                </a:solidFill>
                <a:latin typeface="Calibri"/>
              </a:rPr>
              <a:t>Relationship</a:t>
            </a:r>
          </a:p>
        </p:txBody>
      </p:sp>
      <p:sp>
        <p:nvSpPr>
          <p:cNvPr id="2159" name="Lt Attribute"/>
          <p:cNvSpPr txBox="1"/>
          <p:nvPr/>
        </p:nvSpPr>
        <p:spPr>
          <a:xfrm>
            <a:off x="9966960" y="1984248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lang="en-US" sz="800" b="0" dirty="0">
                <a:solidFill>
                  <a:srgbClr val="2A2A28"/>
                </a:solidFill>
                <a:latin typeface="Calibri"/>
              </a:rPr>
              <a:t>Attribute</a:t>
            </a:r>
          </a:p>
        </p:txBody>
      </p:sp>
      <p:sp>
        <p:nvSpPr>
          <p:cNvPr id="2160" name="Lt Key Attribute"/>
          <p:cNvSpPr txBox="1"/>
          <p:nvPr/>
        </p:nvSpPr>
        <p:spPr>
          <a:xfrm>
            <a:off x="9966960" y="224942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lang="en-US" sz="800" b="0" dirty="0">
                <a:solidFill>
                  <a:srgbClr val="2A2A28"/>
                </a:solidFill>
                <a:latin typeface="Calibri"/>
              </a:rPr>
              <a:t>Key Attribute</a:t>
            </a:r>
          </a:p>
        </p:txBody>
      </p:sp>
      <p:sp>
        <p:nvSpPr>
          <p:cNvPr id="2161" name="Lm 1 = One"/>
          <p:cNvSpPr txBox="1"/>
          <p:nvPr/>
        </p:nvSpPr>
        <p:spPr>
          <a:xfrm>
            <a:off x="9372600" y="2542032"/>
            <a:ext cx="1828800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750" b="0" dirty="0">
                <a:solidFill>
                  <a:srgbClr val="2A2A28"/>
                </a:solidFill>
                <a:latin typeface="Calibri"/>
              </a:rPr>
              <a:t>1 = One</a:t>
            </a:r>
          </a:p>
        </p:txBody>
      </p:sp>
      <p:sp>
        <p:nvSpPr>
          <p:cNvPr id="2162" name="Lm M = Many"/>
          <p:cNvSpPr txBox="1"/>
          <p:nvPr/>
        </p:nvSpPr>
        <p:spPr>
          <a:xfrm>
            <a:off x="9372600" y="2660904"/>
            <a:ext cx="1828800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750" b="0" dirty="0">
                <a:solidFill>
                  <a:srgbClr val="2A2A28"/>
                </a:solidFill>
                <a:latin typeface="Calibri"/>
              </a:rPr>
              <a:t>M = Many</a:t>
            </a:r>
          </a:p>
        </p:txBody>
      </p:sp>
      <p:sp>
        <p:nvSpPr>
          <p:cNvPr id="2163" name="Lm 0..1 = Zero or One"/>
          <p:cNvSpPr txBox="1"/>
          <p:nvPr/>
        </p:nvSpPr>
        <p:spPr>
          <a:xfrm>
            <a:off x="9372600" y="2779776"/>
            <a:ext cx="1828800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750" b="0" dirty="0">
                <a:solidFill>
                  <a:srgbClr val="2A2A28"/>
                </a:solidFill>
                <a:latin typeface="Calibri"/>
              </a:rPr>
              <a:t>0..1 = Zero or 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Initial Relational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5272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owner_id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name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phone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email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address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14300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14300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25272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PROPERTY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55448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property_id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owner_id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address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city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property_type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14300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14300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25272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55448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unit_id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property_id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unit_no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floor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bedrooms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rent_amount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status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14300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114300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25272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TENANT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155448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tenant_id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name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phone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email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id_proof_no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8036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88036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99008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LEASE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29184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lease_id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unit_id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tenant_id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start_date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end_date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monthly_rent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status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288036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0" y="288036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299008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RENT_SCHEDULE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329184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schedule_id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lease_id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due_date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amount_due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status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88036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288036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299008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DEPOSIT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29184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deposit_id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lease_id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amount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date_paid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refund_amount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refund_date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288036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61120" y="288036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299008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PAYMENT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329184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payment_id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lease_id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schedule_id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amount_paid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payment_date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mode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61772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61772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472744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INSPECTION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02920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inspection_id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unit_id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inspection_date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inspector_name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remarks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461772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91840" y="461772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29000" y="472744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MAINTENANCE_REQUEST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502920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request_id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unit_id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tenant_id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request_date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description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status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cost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461772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26480" y="461772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472744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RENEWAL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502920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renewal_id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lease_id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renewal_date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new_end_date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new_rent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0" y="461772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961120" y="461772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98280" y="472744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TERMINATION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8280" y="502920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termination_id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lease_id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termination_date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reason</a:t>
            </a:r>
            <a:r>
              <a:rPr sz="850" b="1">
                <a:solidFill>
                  <a:srgbClr val="80868E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Business Rules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6400800" cy="42062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42062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4F56"/>
                </a:solidFill>
                <a:latin typeface="Cambria"/>
              </a:rPr>
              <a:t>Business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98932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No overlapping active leases on the same unit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Lease end date must be after start date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Rent and deposit must be non-negative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Only available units can be leased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Payment amount cannot exceed amount due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Every payment must reference a rent schedule entry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Maintenance requests must reference a valid unit and tenant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9752" y="1188720"/>
            <a:ext cx="4572000" cy="4206240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13716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Conclusion &amp;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965960"/>
            <a:ext cx="4023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Problem identified, conceptual ER model designed, initial relational schema proposed.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1546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8BEC6"/>
                </a:solidFill>
                <a:latin typeface="Calibri"/>
              </a:rPr>
              <a:t>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520440"/>
            <a:ext cx="40233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>
                <a:solidFill>
                  <a:srgbClr val="B8BEC6"/>
                </a:solidFill>
                <a:latin typeface="Calibri"/>
              </a:rPr>
              <a:t>■  </a:t>
            </a:r>
            <a:r>
              <a:rPr sz="1400" b="0">
                <a:solidFill>
                  <a:srgbClr val="FFFFFF"/>
                </a:solidFill>
                <a:latin typeface="Calibri"/>
              </a:rPr>
              <a:t>Normalize to 3NF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B8BEC6"/>
                </a:solidFill>
                <a:latin typeface="Calibri"/>
              </a:rPr>
              <a:t>■  </a:t>
            </a:r>
            <a:r>
              <a:rPr sz="1400" b="0">
                <a:solidFill>
                  <a:srgbClr val="FFFFFF"/>
                </a:solidFill>
                <a:latin typeface="Calibri"/>
              </a:rPr>
              <a:t>Implement DDL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B8BEC6"/>
                </a:solidFill>
                <a:latin typeface="Calibri"/>
              </a:rPr>
              <a:t>■  </a:t>
            </a:r>
            <a:r>
              <a:rPr sz="1400" b="0">
                <a:solidFill>
                  <a:srgbClr val="FFFFFF"/>
                </a:solidFill>
                <a:latin typeface="Calibri"/>
              </a:rPr>
              <a:t>Write SQL queries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669280"/>
            <a:ext cx="54864" cy="5486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A4F56"/>
                </a:solidFill>
                <a:latin typeface="Calibri"/>
              </a:rPr>
              <a:t>Rules are enforced at database level through constraints, triggers, and a stored procedure.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Normalization &amp; Final Database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11880" cy="32918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32918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4F56"/>
                </a:solidFill>
                <a:latin typeface="Cambria"/>
              </a:rPr>
              <a:t>Normalization to 3NF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3200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1NF: Atomic values and no repeating groups</a:t>
            </a:r>
          </a:p>
          <a:p>
            <a:pPr algn="l">
              <a:spcAft>
                <a:spcPts val="10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2NF: No partial dependencies</a:t>
            </a:r>
          </a:p>
          <a:p>
            <a:pPr algn="l">
              <a:spcAft>
                <a:spcPts val="10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3NF: No transitive dependencies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611880" cy="32918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54864" cy="32918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353312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4F56"/>
                </a:solidFill>
                <a:latin typeface="Cambria"/>
              </a:rPr>
              <a:t>Functional 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83080"/>
            <a:ext cx="3200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owner_id → owner details</a:t>
            </a:r>
          </a:p>
          <a:p>
            <a:pPr algn="l">
              <a:spcAft>
                <a:spcPts val="10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property_id → property details</a:t>
            </a:r>
          </a:p>
          <a:p>
            <a:pPr algn="l">
              <a:spcAft>
                <a:spcPts val="10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unit_id → unit details</a:t>
            </a:r>
          </a:p>
          <a:p>
            <a:pPr algn="l">
              <a:spcAft>
                <a:spcPts val="10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tenant_id → tenant details</a:t>
            </a:r>
          </a:p>
          <a:p>
            <a:pPr algn="l">
              <a:spcAft>
                <a:spcPts val="10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lease_id → lease details</a:t>
            </a:r>
          </a:p>
          <a:p>
            <a:pPr algn="l">
              <a:spcAft>
                <a:spcPts val="10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schedule_id → due date, amount due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593592" cy="32918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54864" cy="32918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353312"/>
            <a:ext cx="32278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4F56"/>
                </a:solidFill>
                <a:latin typeface="Cambria"/>
              </a:rPr>
              <a:t>Final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783080"/>
            <a:ext cx="3182112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12 normalized tables</a:t>
            </a:r>
          </a:p>
          <a:p>
            <a:pPr algn="l">
              <a:spcAft>
                <a:spcPts val="10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Primary keys and foreign keys</a:t>
            </a:r>
          </a:p>
          <a:p>
            <a:pPr algn="l">
              <a:spcAft>
                <a:spcPts val="10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Related information separated to reduce redundancy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54880"/>
            <a:ext cx="11274552" cy="731520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Database design normalized up to 3NF.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54864" cy="5486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A4F56"/>
                </a:solidFill>
                <a:latin typeface="Calibri"/>
              </a:rPr>
              <a:t>Normalization removes update, insertion, and deletion anomalies across all 12 tables.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MySQL 8.0 Implementation &amp;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42062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42062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4F56"/>
                </a:solidFill>
                <a:latin typeface="Cambria"/>
              </a:rPr>
              <a:t>Database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07492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Database: smartnest_db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12 tables created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Primary and foreign key constraints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CHECK, NOT NULL, UNIQUE and DEFAULT constraints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Triggers and stored procedure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Sample data inserted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352" y="1188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F444B"/>
                </a:solidFill>
                <a:latin typeface="Cambria"/>
              </a:rPr>
              <a:t>Business Rule Testing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600200"/>
            <a:ext cx="5486400" cy="85039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600200"/>
            <a:ext cx="54864" cy="850392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00200"/>
            <a:ext cx="3291840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4A4F56"/>
                </a:solidFill>
                <a:latin typeface="Calibri"/>
              </a:rPr>
              <a:t>Invalid lease 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1600200"/>
            <a:ext cx="1828800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libri"/>
              </a:rPr>
              <a:t>→  Rejected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2578608"/>
            <a:ext cx="5486400" cy="85039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2578608"/>
            <a:ext cx="54864" cy="850392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578608"/>
            <a:ext cx="3291840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4A4F56"/>
                </a:solidFill>
                <a:latin typeface="Calibri"/>
              </a:rPr>
              <a:t>Negative rent / deposit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578608"/>
            <a:ext cx="1828800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libri"/>
              </a:rPr>
              <a:t>→  Rejected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5352" y="3557016"/>
            <a:ext cx="5486400" cy="85039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5352" y="3557016"/>
            <a:ext cx="54864" cy="850392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557016"/>
            <a:ext cx="3291840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4A4F56"/>
                </a:solidFill>
                <a:latin typeface="Calibri"/>
              </a:rPr>
              <a:t>Unavailable unit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557016"/>
            <a:ext cx="1828800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libri"/>
              </a:rPr>
              <a:t>→  Rejected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4535424"/>
            <a:ext cx="5486400" cy="85039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45352" y="4535424"/>
            <a:ext cx="54864" cy="850392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535424"/>
            <a:ext cx="3291840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4A4F56"/>
                </a:solidFill>
                <a:latin typeface="Calibri"/>
              </a:rPr>
              <a:t>Excess payment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4535424"/>
            <a:ext cx="1828800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libri"/>
              </a:rPr>
              <a:t>→  Rejected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669280"/>
            <a:ext cx="54864" cy="5486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66928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A4F56"/>
                </a:solidFill>
                <a:latin typeface="Calibri"/>
              </a:rPr>
              <a:t>Invalid operations are rejected by the database itself, independent of any application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SQL Queries, Views &amp;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11880" cy="32918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32918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4F56"/>
                </a:solidFill>
                <a:latin typeface="Cambria"/>
              </a:rPr>
              <a:t>SQL Queries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3200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JOIN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Aggregate functions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Subqueries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Filtering &amp; grouping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611880" cy="32918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54864" cy="32918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353312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4F56"/>
                </a:solidFill>
                <a:latin typeface="Cambria"/>
              </a:rPr>
              <a:t>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83080"/>
            <a:ext cx="3200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vacant_units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due_rent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lease_expiry_report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owner_income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tenant_history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593592" cy="32918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54864" cy="32918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353312"/>
            <a:ext cx="32278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4F56"/>
                </a:solidFill>
                <a:latin typeface="Cambria"/>
              </a:rPr>
              <a:t>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783080"/>
            <a:ext cx="3182112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Vacant units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Due rent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Lease expiry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Owner income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Tenant history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Maintenance requests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54880"/>
            <a:ext cx="11274552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754880"/>
            <a:ext cx="54864" cy="1188720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46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EXAMPLE — VACANT UNITS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6636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4A4F56"/>
                </a:solidFill>
                <a:latin typeface="Consolas"/>
              </a:rPr>
              <a:t>SELECT u.unit_no, p.address, u.rent_amount</a:t>
            </a:r>
          </a:p>
          <a:p>
            <a:pPr algn="l"/>
            <a:r>
              <a:rPr sz="1250" b="0">
                <a:solidFill>
                  <a:srgbClr val="4A4F56"/>
                </a:solidFill>
                <a:latin typeface="Consolas"/>
              </a:rPr>
              <a:t>FROM unit u JOIN property p ON u.property_id = p.property_id WHERE u.status = 'Available';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