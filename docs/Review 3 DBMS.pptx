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371600"/>
            <a:ext cx="6400800" cy="1124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315468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4A4F56"/>
                </a:solidFill>
                <a:latin typeface="Calibri"/>
              </a:rPr>
              <a:t>Property Rental &amp; Lease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3749039"/>
            <a:ext cx="914400" cy="18288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977639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Calibri"/>
              </a:rPr>
              <a:t>DBMS Project-Based Learning –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8348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6B7280"/>
                </a:solidFill>
                <a:latin typeface="Calibri"/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578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A4F56"/>
                </a:solidFill>
                <a:latin typeface="Calibri"/>
              </a:rPr>
              <a:t>Mohammad Zeeshan</a:t>
            </a:r>
            <a:r>
              <a:rPr sz="1400" b="0">
                <a:solidFill>
                  <a:srgbClr val="4A4F56"/>
                </a:solidFill>
                <a:latin typeface="Calibri"/>
              </a:rPr>
              <a:t>   •   Roll No. 25WU0102160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From Database to Working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40233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402336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Key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749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Property and unit management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Tenant and lease management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Rent and payment tracking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Maintenance management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Reports and database-driven insights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CRUD operations with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3F444B"/>
                </a:solidFill>
                <a:latin typeface="Cambria"/>
              </a:rPr>
              <a:t>Application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600200"/>
            <a:ext cx="4114800" cy="566928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60020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4A4F56"/>
                </a:solidFill>
                <a:latin typeface="Calibri"/>
              </a:rPr>
              <a:t>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67128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514600"/>
            <a:ext cx="4114800" cy="566928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51460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4A4F56"/>
                </a:solidFill>
                <a:latin typeface="Calibri"/>
              </a:rPr>
              <a:t>PropertyDesk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081528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429000"/>
            <a:ext cx="4114800" cy="566928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42900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4A4F56"/>
                </a:solidFill>
                <a:latin typeface="Calibri"/>
              </a:rPr>
              <a:t>Python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95928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4343400"/>
            <a:ext cx="4114800" cy="566928"/>
          </a:xfrm>
          <a:prstGeom prst="rect">
            <a:avLst/>
          </a:prstGeom>
          <a:solidFill>
            <a:srgbClr val="3F444B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343400"/>
            <a:ext cx="4114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MySQL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4068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PropertyDesk transforms the normalized rental-management database into a working application connected to MySQL.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806440"/>
            <a:ext cx="2544318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236143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A4F56"/>
                </a:solidFill>
                <a:latin typeface="Calibri"/>
              </a:rPr>
              <a:t>Database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1518" y="58064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67277" y="5806440"/>
            <a:ext cx="2544318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8718" y="5806440"/>
            <a:ext cx="236143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A4F56"/>
                </a:solidFill>
                <a:latin typeface="Calibri"/>
              </a:rPr>
              <a:t>Database 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1596" y="58064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7355" y="5806440"/>
            <a:ext cx="2544318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8795" y="5806440"/>
            <a:ext cx="236143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A4F56"/>
                </a:solidFill>
                <a:latin typeface="Calibri"/>
              </a:rPr>
              <a:t>PropertyDesk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1674" y="58064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7434" y="5806440"/>
            <a:ext cx="2544318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78874" y="5806440"/>
            <a:ext cx="236143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A4F56"/>
                </a:solidFill>
                <a:latin typeface="Calibri"/>
              </a:rPr>
              <a:t>Working UI + CRUD +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Technology &amp;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697480" cy="137160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97480" cy="457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Calibri"/>
              </a:rP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F444B"/>
                </a:solidFill>
                <a:latin typeface="Cambria"/>
              </a:rPr>
              <a:t>MySQL 8.0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88720"/>
            <a:ext cx="2697480" cy="137160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697480" cy="457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417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F444B"/>
                </a:solidFill>
                <a:latin typeface="Cambria"/>
              </a:rPr>
              <a:t>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2697480" cy="137160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2697480" cy="457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Calibr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83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F444B"/>
                </a:solidFill>
                <a:latin typeface="Cambria"/>
              </a:rPr>
              <a:t>HTML, CSS, JavaScript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188720"/>
            <a:ext cx="2697480" cy="137160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188720"/>
            <a:ext cx="2697480" cy="457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417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Calibri"/>
              </a:rPr>
              <a:t>CONNECTIVITY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783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F444B"/>
                </a:solidFill>
                <a:latin typeface="Cambria"/>
              </a:rPr>
              <a:t>MySQL Connector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34640"/>
            <a:ext cx="11274552" cy="26517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834640"/>
            <a:ext cx="54864" cy="265176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999232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Implementation Highlights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429000"/>
            <a:ext cx="10863072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12 normalized database tables  (database: smartnest_db)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Primary and foreign key constraints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CHECK / NOT NULL / UNIQUE / DEFAULT constraints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Triggers and stored procedure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Database views for reporting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76072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The application sits on top of the Review 2 database without changing its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PropertyDesk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179134654084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42805"/>
            <a:ext cx="8229600" cy="40066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242805"/>
            <a:ext cx="8229600" cy="4006629"/>
          </a:xfrm>
          <a:prstGeom prst="rect">
            <a:avLst/>
          </a:prstGeom>
          <a:noFill/>
          <a:ln w="12700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0" y="1188720"/>
            <a:ext cx="2862072" cy="411480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1188720"/>
            <a:ext cx="54864" cy="411480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353312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Dashboard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1783080"/>
            <a:ext cx="2450591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Total Properties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Total Units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Available Units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Occupied Units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Total Tenants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Active Leases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Occupancy Overview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Recent Lease Activity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62356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Real-time dashboard statistics are retrieved from the MySQL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Property &amp; Unit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mbria"/>
              </a:rPr>
              <a:t>Properties</a:t>
            </a:r>
          </a:p>
        </p:txBody>
      </p:sp>
      <p:pic>
        <p:nvPicPr>
          <p:cNvPr id="7" name="Picture 6" descr="1791346570684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1932"/>
            <a:ext cx="5486400" cy="26768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541932"/>
            <a:ext cx="5486400" cy="2676855"/>
          </a:xfrm>
          <a:prstGeom prst="rect">
            <a:avLst/>
          </a:prstGeom>
          <a:noFill/>
          <a:ln w="12700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mbria"/>
              </a:rPr>
              <a:t>Units</a:t>
            </a:r>
          </a:p>
        </p:txBody>
      </p:sp>
      <p:pic>
        <p:nvPicPr>
          <p:cNvPr id="10" name="Picture 9" descr="179134660467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44816"/>
            <a:ext cx="5486400" cy="26710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45352" y="1544816"/>
            <a:ext cx="5486400" cy="2671086"/>
          </a:xfrm>
          <a:prstGeom prst="rect">
            <a:avLst/>
          </a:prstGeom>
          <a:noFill/>
          <a:ln w="12700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View real property and unit records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Search and filter records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Add new properties and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452628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View detailed information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Delete records with database constraint protection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Changes synchronize with MySQL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Tenant &amp; Lease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mbria"/>
              </a:rPr>
              <a:t>Tenants</a:t>
            </a:r>
          </a:p>
        </p:txBody>
      </p:sp>
      <p:pic>
        <p:nvPicPr>
          <p:cNvPr id="7" name="Picture 6" descr="1791346630851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706"/>
            <a:ext cx="5486400" cy="267530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542706"/>
            <a:ext cx="5486400" cy="2675306"/>
          </a:xfrm>
          <a:prstGeom prst="rect">
            <a:avLst/>
          </a:prstGeom>
          <a:noFill/>
          <a:ln w="12700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mbria"/>
              </a:rPr>
              <a:t>Leases</a:t>
            </a:r>
          </a:p>
        </p:txBody>
      </p:sp>
      <p:pic>
        <p:nvPicPr>
          <p:cNvPr id="10" name="Picture 9" descr="179134665357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46960"/>
            <a:ext cx="5486400" cy="266679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45352" y="1546960"/>
            <a:ext cx="5486400" cy="2666799"/>
          </a:xfrm>
          <a:prstGeom prst="rect">
            <a:avLst/>
          </a:prstGeom>
          <a:noFill/>
          <a:ln w="12700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Manage tenant records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Create and view tenant information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Connect tenants with rental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4526280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Manage lease dates and monthly rent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Track Active / Expired / Terminated leases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Apply existing database validation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A lease connects the tenant and the unit and represents the actual rental agreement.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Finance &amp;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mbria"/>
              </a:rPr>
              <a:t>Rent &amp; Payments</a:t>
            </a:r>
          </a:p>
        </p:txBody>
      </p:sp>
      <p:pic>
        <p:nvPicPr>
          <p:cNvPr id="7" name="Picture 6" descr="1791346742869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19" y="1508760"/>
            <a:ext cx="5361560" cy="2606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19619" y="1508760"/>
            <a:ext cx="5361560" cy="2606040"/>
          </a:xfrm>
          <a:prstGeom prst="rect">
            <a:avLst/>
          </a:prstGeom>
          <a:noFill/>
          <a:ln w="12700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Rent schedules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Due amounts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3434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Payment tracking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Payment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143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mbria"/>
              </a:rPr>
              <a:t>Maintenance</a:t>
            </a:r>
          </a:p>
        </p:txBody>
      </p:sp>
      <p:pic>
        <p:nvPicPr>
          <p:cNvPr id="12" name="Picture 11" descr="179134677945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783" y="1508760"/>
            <a:ext cx="5341537" cy="26060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317783" y="1508760"/>
            <a:ext cx="5341537" cy="2606040"/>
          </a:xfrm>
          <a:prstGeom prst="rect">
            <a:avLst/>
          </a:prstGeom>
          <a:noFill/>
          <a:ln w="12700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4343400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Maintenance requests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Unit and tenant association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43434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Request status</a:t>
            </a:r>
          </a:p>
          <a:p>
            <a:pPr algn="l">
              <a:spcAft>
                <a:spcPts val="8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Maintenance cost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76072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Payment validation and maintenance records are handled through the same MySQL database rules.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Database-Driven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1791346816147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40641"/>
            <a:ext cx="8229600" cy="40109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240641"/>
            <a:ext cx="8229600" cy="4010956"/>
          </a:xfrm>
          <a:prstGeom prst="rect">
            <a:avLst/>
          </a:prstGeom>
          <a:noFill/>
          <a:ln w="12700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0" y="1188720"/>
            <a:ext cx="2862072" cy="411480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1188720"/>
            <a:ext cx="54864" cy="411480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1353312"/>
            <a:ext cx="24963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1783080"/>
            <a:ext cx="2450591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Vacant Units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Due Rent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Lease Expiry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Owner Income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Tenant History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Maintenance 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62356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Reports are generated from real MySQL data using SQL queries and database 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CRUD &amp; Database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475738" cy="5943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229285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A4F56"/>
                </a:solidFill>
                <a:latin typeface="Calibri"/>
              </a:rPr>
              <a:t>INSERT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938" y="118872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0138" y="1188720"/>
            <a:ext cx="2475738" cy="5943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1578" y="1188720"/>
            <a:ext cx="229285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A4F56"/>
                </a:solidFill>
                <a:latin typeface="Calibri"/>
              </a:rPr>
              <a:t>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876" y="118872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3076" y="1188720"/>
            <a:ext cx="2475738" cy="5943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4516" y="1188720"/>
            <a:ext cx="229285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A4F56"/>
                </a:solidFill>
                <a:latin typeface="Calibri"/>
              </a:rPr>
              <a:t>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8814" y="1188720"/>
            <a:ext cx="457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56014" y="1188720"/>
            <a:ext cx="2475738" cy="5943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7454" y="1188720"/>
            <a:ext cx="229285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A4F56"/>
                </a:solidFill>
                <a:latin typeface="Calibri"/>
              </a:rPr>
              <a:t>VERIFY IN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Before insert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1965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After insert (new tenant #20)</a:t>
            </a:r>
          </a:p>
        </p:txBody>
      </p:sp>
      <p:pic>
        <p:nvPicPr>
          <p:cNvPr id="19" name="Picture 18" descr="1791346964974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03756"/>
            <a:ext cx="3657600" cy="197616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57200" y="2303756"/>
            <a:ext cx="3657600" cy="1976166"/>
          </a:xfrm>
          <a:prstGeom prst="rect">
            <a:avLst/>
          </a:prstGeom>
          <a:noFill/>
          <a:ln w="12700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179134704016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303463"/>
            <a:ext cx="3657600" cy="1976753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251960" y="2303463"/>
            <a:ext cx="3657600" cy="1976753"/>
          </a:xfrm>
          <a:prstGeom prst="rect">
            <a:avLst/>
          </a:prstGeom>
          <a:noFill/>
          <a:ln w="12700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7452360" cy="118872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54864" cy="11887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45152"/>
            <a:ext cx="7086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CRUD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Insert  •  View  •  Delete  •  Search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965960"/>
            <a:ext cx="3593592" cy="370332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965960"/>
            <a:ext cx="54864" cy="37033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130552"/>
            <a:ext cx="3227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560320"/>
            <a:ext cx="3182112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Invalid lease dates rejected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Negative rent / deposit rejected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Unavailable unit cannot be leased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Payment cannot exceed amount due</a:t>
            </a:r>
          </a:p>
          <a:p>
            <a:pPr algn="l">
              <a:spcAft>
                <a:spcPts val="1000"/>
              </a:spcAft>
            </a:pPr>
            <a:r>
              <a:rPr sz="950" b="0">
                <a:solidFill>
                  <a:srgbClr val="80868E"/>
                </a:solidFill>
                <a:latin typeface="Calibri"/>
              </a:rPr>
              <a:t>■  </a:t>
            </a:r>
            <a:r>
              <a:rPr sz="1350" b="0">
                <a:solidFill>
                  <a:srgbClr val="4A4F56"/>
                </a:solidFill>
                <a:latin typeface="Calibri"/>
              </a:rPr>
              <a:t>Foreign-key constraints protect related records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85216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8521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Live demo: one real Insert → View → Delete workflow, then verified in MySQL.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40233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402336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749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Centralized rental data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CRUD operations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Validation and integrity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Financial and maintenance tracking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Database-driven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PropertyDesk successfully converts the database design into a working property rental and lease management application connected to MySQL.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188720"/>
            <a:ext cx="5486400" cy="40233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188720"/>
            <a:ext cx="54864" cy="402336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3533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783080"/>
            <a:ext cx="507492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Role-based authentication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Automated rent reminders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Online payment integration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Advanced analytics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Cloud deployment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Mobile application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40680"/>
            <a:ext cx="11274552" cy="914400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PROPERTYDESK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Property Rental &amp; Lease Management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44068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